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51"/>
  </p:handoutMasterIdLst>
  <p:sldIdLst>
    <p:sldId id="256" r:id="rId3"/>
    <p:sldId id="338" r:id="rId4"/>
    <p:sldId id="339" r:id="rId6"/>
    <p:sldId id="337" r:id="rId7"/>
    <p:sldId id="287" r:id="rId8"/>
    <p:sldId id="290" r:id="rId9"/>
    <p:sldId id="262" r:id="rId10"/>
    <p:sldId id="259" r:id="rId11"/>
    <p:sldId id="272" r:id="rId12"/>
    <p:sldId id="267" r:id="rId13"/>
    <p:sldId id="273" r:id="rId14"/>
    <p:sldId id="268" r:id="rId15"/>
    <p:sldId id="274" r:id="rId16"/>
    <p:sldId id="341" r:id="rId17"/>
    <p:sldId id="269" r:id="rId18"/>
    <p:sldId id="275" r:id="rId19"/>
    <p:sldId id="342" r:id="rId20"/>
    <p:sldId id="270" r:id="rId21"/>
    <p:sldId id="276" r:id="rId22"/>
    <p:sldId id="343" r:id="rId23"/>
    <p:sldId id="271" r:id="rId24"/>
    <p:sldId id="305" r:id="rId25"/>
    <p:sldId id="344" r:id="rId26"/>
    <p:sldId id="346" r:id="rId27"/>
    <p:sldId id="291" r:id="rId28"/>
    <p:sldId id="292" r:id="rId29"/>
    <p:sldId id="293" r:id="rId30"/>
    <p:sldId id="294" r:id="rId31"/>
    <p:sldId id="295" r:id="rId32"/>
    <p:sldId id="296" r:id="rId33"/>
    <p:sldId id="297" r:id="rId34"/>
    <p:sldId id="298" r:id="rId35"/>
    <p:sldId id="299" r:id="rId36"/>
    <p:sldId id="300" r:id="rId37"/>
    <p:sldId id="301" r:id="rId38"/>
    <p:sldId id="302" r:id="rId39"/>
    <p:sldId id="306" r:id="rId40"/>
    <p:sldId id="307" r:id="rId41"/>
    <p:sldId id="308" r:id="rId42"/>
    <p:sldId id="309" r:id="rId43"/>
    <p:sldId id="310" r:id="rId44"/>
    <p:sldId id="311" r:id="rId45"/>
    <p:sldId id="347" r:id="rId46"/>
    <p:sldId id="348" r:id="rId47"/>
    <p:sldId id="349" r:id="rId48"/>
    <p:sldId id="350" r:id="rId49"/>
    <p:sldId id="351" r:id="rId50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32E1"/>
    <a:srgbClr val="FF6600"/>
    <a:srgbClr val="FF8D41"/>
    <a:srgbClr val="B2B2B2"/>
    <a:srgbClr val="202020"/>
    <a:srgbClr val="323232"/>
    <a:srgbClr val="CC3300"/>
    <a:srgbClr val="CC0000"/>
    <a:srgbClr val="FF3300"/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62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4" Type="http://schemas.openxmlformats.org/officeDocument/2006/relationships/tableStyles" Target="tableStyles.xml"/><Relationship Id="rId53" Type="http://schemas.openxmlformats.org/officeDocument/2006/relationships/viewProps" Target="viewProps.xml"/><Relationship Id="rId52" Type="http://schemas.openxmlformats.org/officeDocument/2006/relationships/presProps" Target="presProps.xml"/><Relationship Id="rId51" Type="http://schemas.openxmlformats.org/officeDocument/2006/relationships/handoutMaster" Target="handoutMasters/handoutMaster1.xml"/><Relationship Id="rId50" Type="http://schemas.openxmlformats.org/officeDocument/2006/relationships/slide" Target="slides/slide47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600" lvl="0" indent="-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200" lvl="1" indent="-423545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800" lvl="2" indent="-42354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400" lvl="3" indent="-423545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8000" lvl="4" indent="-423545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600" lvl="5" indent="-42354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200" lvl="6" indent="-423545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800" lvl="7" indent="-423545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400" lvl="8" indent="-42354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459865" y="438407"/>
            <a:ext cx="9144000" cy="2187001"/>
          </a:xfrm>
        </p:spPr>
        <p:txBody>
          <a:bodyPr>
            <a:normAutofit fontScale="90000"/>
          </a:bodyPr>
          <a:lstStyle/>
          <a:p>
            <a:r>
              <a:rPr lang="en-US" altLang="zh-CN">
                <a:solidFill>
                  <a:srgbClr val="C00000"/>
                </a:solidFill>
              </a:rPr>
              <a:t>Model Context Protocol </a:t>
            </a:r>
            <a:br>
              <a:rPr lang="en-US" altLang="zh-CN">
                <a:solidFill>
                  <a:srgbClr val="C00000"/>
                </a:solidFill>
              </a:rPr>
            </a:br>
            <a:r>
              <a:rPr lang="en-US" altLang="zh-CN">
                <a:solidFill>
                  <a:srgbClr val="C00000"/>
                </a:solidFill>
              </a:rPr>
              <a:t>Introduction</a:t>
            </a:r>
            <a:endParaRPr lang="en-US" altLang="zh-CN">
              <a:solidFill>
                <a:srgbClr val="C00000"/>
              </a:solidFill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>
          <a:xfrm>
            <a:off x="1662430" y="3891280"/>
            <a:ext cx="9144000" cy="2070735"/>
          </a:xfrm>
        </p:spPr>
        <p:txBody>
          <a:bodyPr/>
          <a:lstStyle/>
          <a:p>
            <a:r>
              <a:rPr lang="en-US" altLang="zh-CN" sz="2800" b="1">
                <a:solidFill>
                  <a:srgbClr val="002060"/>
                </a:solidFill>
              </a:rPr>
              <a:t>Dr M Janaki Meena</a:t>
            </a:r>
            <a:endParaRPr lang="en-US" altLang="zh-CN" sz="2800" b="1">
              <a:solidFill>
                <a:srgbClr val="002060"/>
              </a:solidFill>
            </a:endParaRPr>
          </a:p>
          <a:p>
            <a:r>
              <a:rPr lang="en-US" altLang="zh-CN" sz="2800" b="1">
                <a:solidFill>
                  <a:srgbClr val="002060"/>
                </a:solidFill>
              </a:rPr>
              <a:t>Professor, SCOPE</a:t>
            </a:r>
            <a:endParaRPr lang="en-US" altLang="zh-CN" sz="2800" b="1">
              <a:solidFill>
                <a:srgbClr val="002060"/>
              </a:solidFill>
            </a:endParaRPr>
          </a:p>
          <a:p>
            <a:r>
              <a:rPr lang="en-US" altLang="zh-CN" sz="2800" b="1">
                <a:solidFill>
                  <a:srgbClr val="002060"/>
                </a:solidFill>
              </a:rPr>
              <a:t>VIT Chennai</a:t>
            </a:r>
            <a:endParaRPr lang="en-US" altLang="zh-CN" sz="2800" b="1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"/>
          <p:cNvSpPr txBox="1">
            <a:spLocks noGrp="1"/>
          </p:cNvSpPr>
          <p:nvPr>
            <p:ph type="title"/>
          </p:nvPr>
        </p:nvSpPr>
        <p:spPr>
          <a:xfrm>
            <a:off x="415388" y="-60895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000"/>
              <a:buNone/>
            </a:pPr>
            <a:r>
              <a:rPr lang="en-US" sz="40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Agents</a:t>
            </a:r>
            <a:endParaRPr lang="en-US" sz="4000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7" name="Google Shape;87;p6"/>
          <p:cNvSpPr txBox="1">
            <a:spLocks noGrp="1"/>
          </p:cNvSpPr>
          <p:nvPr>
            <p:ph type="body" idx="1"/>
          </p:nvPr>
        </p:nvSpPr>
        <p:spPr>
          <a:xfrm>
            <a:off x="131445" y="640080"/>
            <a:ext cx="11924665" cy="5773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228600" indent="-228600" algn="just">
              <a:lnSpc>
                <a:spcPct val="110000"/>
              </a:lnSpc>
              <a:spcBef>
                <a:spcPts val="1000"/>
              </a:spcBef>
              <a:buClrTx/>
              <a:buSzTx/>
              <a:buFont typeface="Arial" panose="02080604020202020204" pitchFamily="34" charset="0"/>
              <a:buChar char="•"/>
            </a:pPr>
            <a:r>
              <a:rPr lang="en-US" sz="3200">
                <a:solidFill>
                  <a:srgbClr val="002060"/>
                </a:solidFill>
              </a:rPr>
              <a:t>An agent is anything that can perceive its environment and act upon that environment </a:t>
            </a:r>
            <a:endParaRPr lang="en-US" sz="3200">
              <a:solidFill>
                <a:srgbClr val="002060"/>
              </a:solidFill>
            </a:endParaRPr>
          </a:p>
          <a:p>
            <a:pPr marL="228600" indent="-228600" algn="just">
              <a:lnSpc>
                <a:spcPct val="110000"/>
              </a:lnSpc>
              <a:spcBef>
                <a:spcPts val="1000"/>
              </a:spcBef>
              <a:buClrTx/>
              <a:buSzTx/>
              <a:buFont typeface="Arial" panose="02080604020202020204" pitchFamily="34" charset="0"/>
              <a:buChar char="•"/>
            </a:pPr>
            <a:r>
              <a:rPr lang="en-US" sz="3200">
                <a:solidFill>
                  <a:srgbClr val="002060"/>
                </a:solidFill>
              </a:rPr>
              <a:t>Agent - Characterized by environment it operates in and set of actions it can perform.</a:t>
            </a:r>
            <a:endParaRPr lang="en-US" sz="3200">
              <a:solidFill>
                <a:srgbClr val="002060"/>
              </a:solidFill>
            </a:endParaRPr>
          </a:p>
          <a:p>
            <a:pPr marL="228600" indent="-228600" algn="just">
              <a:lnSpc>
                <a:spcPct val="110000"/>
              </a:lnSpc>
              <a:spcBef>
                <a:spcPts val="1000"/>
              </a:spcBef>
              <a:buClrTx/>
              <a:buSzTx/>
              <a:buChar char="•"/>
            </a:pPr>
            <a:r>
              <a:rPr lang="en-US" sz="3200">
                <a:solidFill>
                  <a:srgbClr val="002060"/>
                </a:solidFill>
              </a:rPr>
              <a:t>Game playing agent - game is its environment</a:t>
            </a:r>
            <a:endParaRPr lang="en-US" sz="3200">
              <a:solidFill>
                <a:srgbClr val="002060"/>
              </a:solidFill>
            </a:endParaRPr>
          </a:p>
          <a:p>
            <a:pPr marL="228600" indent="-228600" algn="just">
              <a:lnSpc>
                <a:spcPct val="110000"/>
              </a:lnSpc>
              <a:spcBef>
                <a:spcPts val="1000"/>
              </a:spcBef>
              <a:buClrTx/>
              <a:buSzTx/>
              <a:buChar char="•"/>
            </a:pPr>
            <a:r>
              <a:rPr lang="en-US" sz="3200">
                <a:solidFill>
                  <a:srgbClr val="002060"/>
                </a:solidFill>
              </a:rPr>
              <a:t>Web Scraping – Internet</a:t>
            </a:r>
            <a:endParaRPr lang="en-US" sz="3200">
              <a:solidFill>
                <a:srgbClr val="002060"/>
              </a:solidFill>
            </a:endParaRPr>
          </a:p>
          <a:p>
            <a:pPr marL="228600" indent="-228600" algn="just">
              <a:lnSpc>
                <a:spcPct val="110000"/>
              </a:lnSpc>
              <a:spcBef>
                <a:spcPts val="1000"/>
              </a:spcBef>
              <a:buClrTx/>
              <a:buSzTx/>
              <a:buChar char="•"/>
            </a:pPr>
            <a:r>
              <a:rPr lang="en-US" sz="3200">
                <a:solidFill>
                  <a:srgbClr val="002060"/>
                </a:solidFill>
              </a:rPr>
              <a:t>Self-driving car – Road system and adjacent areas</a:t>
            </a:r>
            <a:endParaRPr lang="en-US" sz="3200">
              <a:solidFill>
                <a:srgbClr val="002060"/>
              </a:solidFill>
            </a:endParaRPr>
          </a:p>
          <a:p>
            <a:pPr marL="228600" indent="-228600" algn="just">
              <a:lnSpc>
                <a:spcPct val="110000"/>
              </a:lnSpc>
              <a:spcBef>
                <a:spcPts val="1000"/>
              </a:spcBef>
              <a:buClrTx/>
              <a:buSzTx/>
              <a:buChar char="•"/>
            </a:pPr>
            <a:r>
              <a:rPr lang="en-US" sz="3200">
                <a:solidFill>
                  <a:srgbClr val="002060"/>
                </a:solidFill>
              </a:rPr>
              <a:t>Set of actions - augmented by the tools it has access to</a:t>
            </a:r>
            <a:endParaRPr lang="en-US" sz="3200">
              <a:solidFill>
                <a:srgbClr val="002060"/>
              </a:solidFill>
            </a:endParaRPr>
          </a:p>
          <a:p>
            <a:pPr marL="228600" indent="-228600" algn="just">
              <a:lnSpc>
                <a:spcPct val="110000"/>
              </a:lnSpc>
              <a:spcBef>
                <a:spcPts val="1000"/>
              </a:spcBef>
              <a:buClrTx/>
              <a:buSzTx/>
              <a:buChar char="•"/>
            </a:pPr>
            <a:r>
              <a:rPr lang="en-US" sz="3200">
                <a:solidFill>
                  <a:srgbClr val="002060"/>
                </a:solidFill>
              </a:rPr>
              <a:t>ChatGPT - Search the web, execute Python code, and generate images. </a:t>
            </a:r>
            <a:endParaRPr lang="en-US" sz="3200">
              <a:solidFill>
                <a:srgbClr val="002060"/>
              </a:solidFill>
            </a:endParaRPr>
          </a:p>
          <a:p>
            <a:pPr marL="342900" lvl="0" algn="just" rtl="0">
              <a:lnSpc>
                <a:spcPct val="110000"/>
              </a:lnSpc>
              <a:spcAft>
                <a:spcPts val="0"/>
              </a:spcAft>
              <a:buSzPts val="1800"/>
              <a:buFont typeface="Arial,Sans-Serif" panose="02080604020202020204" pitchFamily="34" charset="0"/>
              <a:buChar char="•"/>
            </a:pPr>
            <a:endParaRPr lang="en-GB" sz="3200">
              <a:solidFill>
                <a:srgbClr val="002060"/>
              </a:solidFill>
              <a:highlight>
                <a:srgbClr val="FDFDFD"/>
              </a:highlight>
            </a:endParaRPr>
          </a:p>
          <a:p>
            <a:pPr marL="342900" lvl="0" algn="just" rtl="0">
              <a:lnSpc>
                <a:spcPct val="110000"/>
              </a:lnSpc>
              <a:buSzPts val="1800"/>
              <a:buFont typeface="Arial,Sans-Serif" panose="02080604020202020204" pitchFamily="34" charset="0"/>
              <a:buChar char="•"/>
            </a:pPr>
            <a:endParaRPr lang="en-GB" sz="3200">
              <a:solidFill>
                <a:srgbClr val="002060"/>
              </a:solidFill>
              <a:highlight>
                <a:srgbClr val="FDFDFD"/>
              </a:highlight>
            </a:endParaRPr>
          </a:p>
          <a:p>
            <a:pPr marL="342900" algn="just">
              <a:lnSpc>
                <a:spcPct val="110000"/>
              </a:lnSpc>
              <a:spcBef>
                <a:spcPts val="1200"/>
              </a:spcBef>
              <a:buFont typeface="Arial" panose="02080604020202020204" pitchFamily="34" charset="0"/>
              <a:buChar char="•"/>
            </a:pPr>
            <a:endParaRPr lang="en-GB" sz="3200">
              <a:solidFill>
                <a:srgbClr val="002060"/>
              </a:solidFill>
              <a:highlight>
                <a:srgbClr val="FDFDFD"/>
              </a:highlight>
            </a:endParaRPr>
          </a:p>
          <a:p>
            <a:pPr marL="342900" algn="just">
              <a:lnSpc>
                <a:spcPct val="110000"/>
              </a:lnSpc>
              <a:spcBef>
                <a:spcPts val="1200"/>
              </a:spcBef>
              <a:buFont typeface="Arial" panose="02080604020202020204" pitchFamily="34" charset="0"/>
              <a:buChar char="•"/>
            </a:pPr>
            <a:endParaRPr lang="en-US" sz="3200">
              <a:solidFill>
                <a:srgbClr val="002060"/>
              </a:solidFill>
              <a:highlight>
                <a:srgbClr val="FDFDFD"/>
              </a:highlight>
            </a:endParaRPr>
          </a:p>
          <a:p>
            <a:pPr marL="342900" algn="just">
              <a:lnSpc>
                <a:spcPct val="110000"/>
              </a:lnSpc>
              <a:spcBef>
                <a:spcPts val="1200"/>
              </a:spcBef>
              <a:buFont typeface="Arial" panose="02080604020202020204" pitchFamily="34" charset="0"/>
              <a:buChar char="•"/>
            </a:pPr>
            <a:endParaRPr lang="en-US" sz="3200">
              <a:solidFill>
                <a:srgbClr val="002060"/>
              </a:solidFill>
              <a:highlight>
                <a:srgbClr val="FDFDFD"/>
              </a:highlight>
            </a:endParaRPr>
          </a:p>
          <a:p>
            <a:pPr marL="342900" algn="just">
              <a:lnSpc>
                <a:spcPct val="110000"/>
              </a:lnSpc>
              <a:spcBef>
                <a:spcPts val="1200"/>
              </a:spcBef>
              <a:buFont typeface="Arial" panose="02080604020202020204" pitchFamily="34" charset="0"/>
              <a:buChar char="•"/>
            </a:pPr>
            <a:endParaRPr lang="en-US" sz="3200">
              <a:solidFill>
                <a:srgbClr val="002060"/>
              </a:solidFill>
              <a:highlight>
                <a:srgbClr val="FDFDFD"/>
              </a:highlight>
            </a:endParaRPr>
          </a:p>
          <a:p>
            <a:pPr marL="342900" algn="just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Font typeface="Arial" panose="02080604020202020204" pitchFamily="34" charset="0"/>
              <a:buChar char="•"/>
            </a:pPr>
            <a:endParaRPr lang="en-US" sz="3200">
              <a:solidFill>
                <a:srgbClr val="002060"/>
              </a:solidFill>
              <a:highlight>
                <a:srgbClr val="FDFDFD"/>
              </a:highligh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 build="p"/>
      <p:bldP spid="87" grpI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7"/>
          <p:cNvSpPr txBox="1">
            <a:spLocks noGrp="1"/>
          </p:cNvSpPr>
          <p:nvPr>
            <p:ph type="title"/>
          </p:nvPr>
        </p:nvSpPr>
        <p:spPr>
          <a:xfrm>
            <a:off x="608640" y="66740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000"/>
              <a:buNone/>
            </a:pPr>
            <a:r>
              <a:rPr lang="en-US" sz="4265" b="1">
                <a:solidFill>
                  <a:srgbClr val="C00000"/>
                </a:solidFill>
                <a:highlight>
                  <a:srgbClr val="FFFFFF"/>
                </a:highlight>
                <a:sym typeface="+mn-ea"/>
              </a:rPr>
              <a:t>A</a:t>
            </a:r>
            <a:r>
              <a:rPr lang="en-GB" sz="4265" b="1">
                <a:solidFill>
                  <a:srgbClr val="C00000"/>
                </a:solidFill>
                <a:highlight>
                  <a:srgbClr val="FFFFFF"/>
                </a:highlight>
                <a:sym typeface="+mn-ea"/>
              </a:rPr>
              <a:t>gen</a:t>
            </a:r>
            <a:r>
              <a:rPr lang="en-US" altLang="en-GB" sz="4265" b="1">
                <a:solidFill>
                  <a:srgbClr val="C00000"/>
                </a:solidFill>
                <a:highlight>
                  <a:srgbClr val="FFFFFF"/>
                </a:highlight>
                <a:sym typeface="+mn-ea"/>
              </a:rPr>
              <a:t>ts</a:t>
            </a:r>
            <a:endParaRPr lang="en-US" altLang="en-GB" sz="4265" b="1">
              <a:solidFill>
                <a:srgbClr val="C00000"/>
              </a:solidFill>
              <a:highlight>
                <a:srgbClr val="FFFFFF"/>
              </a:highlight>
              <a:sym typeface="+mn-ea"/>
            </a:endParaRPr>
          </a:p>
        </p:txBody>
      </p:sp>
      <p:sp>
        <p:nvSpPr>
          <p:cNvPr id="96" name="Google Shape;96;p7"/>
          <p:cNvSpPr txBox="1"/>
          <p:nvPr/>
        </p:nvSpPr>
        <p:spPr>
          <a:xfrm>
            <a:off x="3422533" y="6659467"/>
            <a:ext cx="5595200" cy="611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0080" y="1851025"/>
            <a:ext cx="7995285" cy="23437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15" y="258445"/>
            <a:ext cx="11537315" cy="879475"/>
          </a:xfrm>
        </p:spPr>
        <p:txBody>
          <a:bodyPr/>
          <a:p>
            <a:pPr algn="ctr"/>
            <a:r>
              <a:rPr lang="en-US" sz="4000">
                <a:solidFill>
                  <a:srgbClr val="FF0000"/>
                </a:solidFill>
              </a:rPr>
              <a:t>Model Context Protocol (MCP)</a:t>
            </a:r>
            <a:endParaRPr lang="en-US" sz="400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" y="1137920"/>
            <a:ext cx="12190730" cy="5476240"/>
          </a:xfrm>
        </p:spPr>
        <p:txBody>
          <a:bodyPr>
            <a:noAutofit/>
          </a:bodyPr>
          <a:p>
            <a:pPr algn="just">
              <a:lnSpc>
                <a:spcPct val="130000"/>
              </a:lnSpc>
            </a:pPr>
            <a:r>
              <a:rPr lang="en-US" sz="3600">
                <a:solidFill>
                  <a:srgbClr val="002060"/>
                </a:solidFill>
              </a:rPr>
              <a:t>Open standard introduced by Anthropic in November 2024</a:t>
            </a:r>
            <a:endParaRPr lang="en-US" sz="3600">
              <a:solidFill>
                <a:srgbClr val="002060"/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sz="3600">
                <a:solidFill>
                  <a:srgbClr val="002060"/>
                </a:solidFill>
              </a:rPr>
              <a:t>Defines a structured way for AI models (like Claude or others) to connect with external tools, APIs, databases, or other context sources</a:t>
            </a:r>
            <a:endParaRPr lang="en-US" sz="3600">
              <a:solidFill>
                <a:srgbClr val="002060"/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sz="3600">
                <a:solidFill>
                  <a:srgbClr val="002060"/>
                </a:solidFill>
              </a:rPr>
              <a:t>Connect in a secured, standardized, and inspectable way</a:t>
            </a:r>
            <a:endParaRPr lang="en-US" sz="3600">
              <a:solidFill>
                <a:srgbClr val="002060"/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sz="3600">
                <a:solidFill>
                  <a:srgbClr val="002060"/>
                </a:solidFill>
              </a:rPr>
              <a:t>MCP is like the "API protocol" that lets AI agents talk to the outside world </a:t>
            </a:r>
            <a:endParaRPr lang="en-US" sz="360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15" y="258445"/>
            <a:ext cx="11537315" cy="879475"/>
          </a:xfrm>
        </p:spPr>
        <p:txBody>
          <a:bodyPr/>
          <a:p>
            <a:pPr algn="ctr"/>
            <a:r>
              <a:rPr lang="en-US" sz="4000">
                <a:solidFill>
                  <a:srgbClr val="FF0000"/>
                </a:solidFill>
              </a:rPr>
              <a:t>Model Context Protocol (MCP)</a:t>
            </a:r>
            <a:endParaRPr lang="en-US" sz="400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" y="1137920"/>
            <a:ext cx="12190730" cy="5476240"/>
          </a:xfrm>
        </p:spPr>
        <p:txBody>
          <a:bodyPr>
            <a:noAutofit/>
          </a:bodyPr>
          <a:p>
            <a:pPr algn="just">
              <a:lnSpc>
                <a:spcPct val="130000"/>
              </a:lnSpc>
            </a:pPr>
            <a:r>
              <a:rPr lang="en-US" sz="3600">
                <a:solidFill>
                  <a:srgbClr val="002060"/>
                </a:solidFill>
              </a:rPr>
              <a:t>Provide reference MCP servers/implementations for common systems (Google Drive, Slack, GitHub, Git, Postgres, Puppeteer) that developers can adopt.</a:t>
            </a:r>
            <a:endParaRPr lang="en-US" sz="3600">
              <a:solidFill>
                <a:srgbClr val="002060"/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sz="3600">
                <a:solidFill>
                  <a:srgbClr val="002060"/>
                </a:solidFill>
              </a:rPr>
              <a:t>Already finding traction across multiple domains and industries because it solves a universal problem</a:t>
            </a:r>
            <a:endParaRPr lang="en-US" sz="3600">
              <a:solidFill>
                <a:srgbClr val="002060"/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sz="3600">
                <a:solidFill>
                  <a:srgbClr val="002060"/>
                </a:solidFill>
              </a:rPr>
              <a:t>Securely connecting LLMs to real-world tools, workflows, and private data.</a:t>
            </a:r>
            <a:endParaRPr lang="en-US" sz="360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15" y="258445"/>
            <a:ext cx="11537315" cy="879475"/>
          </a:xfrm>
        </p:spPr>
        <p:txBody>
          <a:bodyPr/>
          <a:p>
            <a:pPr algn="ctr"/>
            <a:r>
              <a:rPr lang="en-US" sz="4000">
                <a:solidFill>
                  <a:srgbClr val="FF0000"/>
                </a:solidFill>
              </a:rPr>
              <a:t>Why MCP</a:t>
            </a:r>
            <a:endParaRPr lang="en-US" sz="400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" y="1137920"/>
            <a:ext cx="12190730" cy="5476240"/>
          </a:xfrm>
        </p:spPr>
        <p:txBody>
          <a:bodyPr>
            <a:noAutofit/>
          </a:bodyPr>
          <a:p>
            <a:pPr algn="just">
              <a:lnSpc>
                <a:spcPct val="130000"/>
              </a:lnSpc>
            </a:pPr>
            <a:r>
              <a:rPr lang="en-US" sz="3600">
                <a:solidFill>
                  <a:srgbClr val="002060"/>
                </a:solidFill>
              </a:rPr>
              <a:t>Large language models (LLMs) work in isolation — they can only use the text context you give them </a:t>
            </a:r>
            <a:endParaRPr lang="en-US" sz="3600">
              <a:solidFill>
                <a:srgbClr val="002060"/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sz="3600">
                <a:solidFill>
                  <a:srgbClr val="002060"/>
                </a:solidFill>
              </a:rPr>
              <a:t>LLMs predict the probability of the next word</a:t>
            </a:r>
            <a:endParaRPr lang="en-US" sz="3600">
              <a:solidFill>
                <a:srgbClr val="002060"/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sz="3600">
                <a:solidFill>
                  <a:srgbClr val="002060"/>
                </a:solidFill>
              </a:rPr>
              <a:t>With MCP, you can extend the model’s abilities by attaching external data sources or tools dynamically at runtime.</a:t>
            </a:r>
            <a:endParaRPr lang="en-US" sz="3600">
              <a:solidFill>
                <a:srgbClr val="002060"/>
              </a:solidFill>
            </a:endParaRPr>
          </a:p>
          <a:p>
            <a:pPr algn="just">
              <a:lnSpc>
                <a:spcPct val="130000"/>
              </a:lnSpc>
            </a:pPr>
            <a:endParaRPr lang="en-US" sz="360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15" y="258445"/>
            <a:ext cx="11537315" cy="879475"/>
          </a:xfrm>
        </p:spPr>
        <p:txBody>
          <a:bodyPr/>
          <a:p>
            <a:pPr algn="ctr"/>
            <a:r>
              <a:rPr lang="en-US" sz="4000">
                <a:solidFill>
                  <a:srgbClr val="FF0000"/>
                </a:solidFill>
              </a:rPr>
              <a:t>Pre-MCP Era: How LLMs Accessed External Data</a:t>
            </a:r>
            <a:endParaRPr lang="en-US" sz="400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" y="1137920"/>
            <a:ext cx="12190730" cy="5476240"/>
          </a:xfrm>
        </p:spPr>
        <p:txBody>
          <a:bodyPr>
            <a:noAutofit/>
          </a:bodyPr>
          <a:p>
            <a:pPr marL="0" indent="0" algn="just">
              <a:lnSpc>
                <a:spcPct val="130000"/>
              </a:lnSpc>
              <a:buNone/>
            </a:pPr>
            <a:r>
              <a:rPr lang="en-US" sz="3600" b="1">
                <a:solidFill>
                  <a:srgbClr val="002060"/>
                </a:solidFill>
              </a:rPr>
              <a:t>Tool calling</a:t>
            </a:r>
            <a:endParaRPr lang="en-US" sz="3600">
              <a:solidFill>
                <a:srgbClr val="002060"/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sz="3600">
                <a:solidFill>
                  <a:srgbClr val="002060"/>
                </a:solidFill>
              </a:rPr>
              <a:t>A mechanism that allows a Large Language Model (LLM) to call external functions, APIs, or tools by producing structured output (like JSON).</a:t>
            </a:r>
            <a:endParaRPr lang="en-US" sz="3600">
              <a:solidFill>
                <a:srgbClr val="002060"/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sz="3600">
                <a:solidFill>
                  <a:srgbClr val="002060"/>
                </a:solidFill>
              </a:rPr>
              <a:t>Instead of responding only with text, the model can decide:</a:t>
            </a:r>
            <a:endParaRPr lang="en-US" sz="3600">
              <a:solidFill>
                <a:srgbClr val="002060"/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sz="3600">
                <a:solidFill>
                  <a:srgbClr val="002060"/>
                </a:solidFill>
              </a:rPr>
              <a:t>“I need to use this tool to get the answer.”</a:t>
            </a:r>
            <a:endParaRPr lang="en-US" sz="360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15" y="258445"/>
            <a:ext cx="11537315" cy="879475"/>
          </a:xfrm>
        </p:spPr>
        <p:txBody>
          <a:bodyPr/>
          <a:p>
            <a:pPr algn="ctr"/>
            <a:r>
              <a:rPr lang="en-US" sz="4000">
                <a:solidFill>
                  <a:srgbClr val="FF0000"/>
                </a:solidFill>
              </a:rPr>
              <a:t>Drawbacks and Limitations of Tool Calling</a:t>
            </a:r>
            <a:endParaRPr lang="en-US" sz="400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" y="1137920"/>
            <a:ext cx="12190730" cy="5476240"/>
          </a:xfrm>
        </p:spPr>
        <p:txBody>
          <a:bodyPr>
            <a:noAutofit/>
          </a:bodyPr>
          <a:p>
            <a:pPr marL="0" indent="0" algn="just">
              <a:lnSpc>
                <a:spcPct val="130000"/>
              </a:lnSpc>
              <a:buNone/>
            </a:pPr>
            <a:r>
              <a:rPr lang="en-US" sz="3600" b="1">
                <a:solidFill>
                  <a:schemeClr val="accent6">
                    <a:lumMod val="75000"/>
                  </a:schemeClr>
                </a:solidFill>
              </a:rPr>
              <a:t>No Standardization</a:t>
            </a:r>
            <a:endParaRPr lang="en-US" sz="3600">
              <a:solidFill>
                <a:srgbClr val="002060"/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sz="3600">
                <a:solidFill>
                  <a:srgbClr val="002060"/>
                </a:solidFill>
              </a:rPr>
              <a:t>Each LLM vendor (OpenAI, Anthropic, Google, Mistral, etc.) has its own way of defining tools.</a:t>
            </a:r>
            <a:endParaRPr lang="en-US" sz="3600">
              <a:solidFill>
                <a:srgbClr val="002060"/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sz="3600">
                <a:solidFill>
                  <a:srgbClr val="002060"/>
                </a:solidFill>
              </a:rPr>
              <a:t>JSON schema formats differ slightly.</a:t>
            </a:r>
            <a:endParaRPr lang="en-US" sz="3600">
              <a:solidFill>
                <a:srgbClr val="002060"/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sz="3600">
                <a:solidFill>
                  <a:srgbClr val="002060"/>
                </a:solidFill>
              </a:rPr>
              <a:t>You can’t reuse the same tool definitions across models.</a:t>
            </a:r>
            <a:endParaRPr lang="en-US" sz="3600">
              <a:solidFill>
                <a:srgbClr val="002060"/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sz="3600" b="1">
                <a:solidFill>
                  <a:srgbClr val="002060"/>
                </a:solidFill>
              </a:rPr>
              <a:t>Led to portability issues. </a:t>
            </a:r>
            <a:r>
              <a:rPr lang="en-US" sz="3600">
                <a:solidFill>
                  <a:srgbClr val="002060"/>
                </a:solidFill>
              </a:rPr>
              <a:t>A tool built for GPT-4 won’t work as-is with Claude or Gemini.</a:t>
            </a:r>
            <a:endParaRPr lang="en-US" sz="360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15" y="258445"/>
            <a:ext cx="11537315" cy="879475"/>
          </a:xfrm>
        </p:spPr>
        <p:txBody>
          <a:bodyPr/>
          <a:p>
            <a:pPr algn="ctr"/>
            <a:r>
              <a:rPr lang="en-US" sz="4000">
                <a:solidFill>
                  <a:srgbClr val="FF0000"/>
                </a:solidFill>
              </a:rPr>
              <a:t>Solution by MCP</a:t>
            </a:r>
            <a:endParaRPr lang="en-US" sz="400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" y="1137920"/>
            <a:ext cx="12190730" cy="5476240"/>
          </a:xfrm>
        </p:spPr>
        <p:txBody>
          <a:bodyPr>
            <a:noAutofit/>
          </a:bodyPr>
          <a:p>
            <a:pPr marL="0" indent="0" algn="just">
              <a:lnSpc>
                <a:spcPct val="130000"/>
              </a:lnSpc>
              <a:buNone/>
            </a:pPr>
            <a:r>
              <a:rPr lang="en-US" sz="3600" b="1">
                <a:solidFill>
                  <a:schemeClr val="accent6">
                    <a:lumMod val="75000"/>
                  </a:schemeClr>
                </a:solidFill>
              </a:rPr>
              <a:t>Open, vendor-neutral specification published by Anthropic</a:t>
            </a:r>
            <a:r>
              <a:rPr lang="en-US" sz="3600">
                <a:solidFill>
                  <a:srgbClr val="002060"/>
                </a:solidFill>
              </a:rPr>
              <a:t>.</a:t>
            </a:r>
            <a:endParaRPr lang="en-US" sz="3600">
              <a:solidFill>
                <a:srgbClr val="002060"/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sz="3600">
                <a:solidFill>
                  <a:srgbClr val="002060"/>
                </a:solidFill>
              </a:rPr>
              <a:t>Tools, data sources, and context connections are defined using a consistent JSON-RPC interface.</a:t>
            </a:r>
            <a:endParaRPr lang="en-US" sz="3600">
              <a:solidFill>
                <a:srgbClr val="002060"/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sz="3600">
                <a:solidFill>
                  <a:srgbClr val="002060"/>
                </a:solidFill>
              </a:rPr>
              <a:t>Any compliant client (Claude, Ollama, local agent) can connect to any compliant MCP server.</a:t>
            </a:r>
            <a:endParaRPr lang="en-US" sz="3600">
              <a:solidFill>
                <a:srgbClr val="002060"/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sz="3600" b="1">
                <a:solidFill>
                  <a:srgbClr val="002060"/>
                </a:solidFill>
              </a:rPr>
              <a:t>Instead of every car company making its own kind of plug, MCP defines the “universal charging port” for all models.</a:t>
            </a:r>
            <a:endParaRPr lang="en-US" sz="3600" b="1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15" y="258445"/>
            <a:ext cx="11537315" cy="879475"/>
          </a:xfrm>
        </p:spPr>
        <p:txBody>
          <a:bodyPr/>
          <a:p>
            <a:pPr algn="ctr"/>
            <a:r>
              <a:rPr lang="en-US" sz="4000">
                <a:solidFill>
                  <a:srgbClr val="FF0000"/>
                </a:solidFill>
                <a:sym typeface="+mn-ea"/>
              </a:rPr>
              <a:t>Drawbacks and Limitations of Tool Calling</a:t>
            </a:r>
            <a:endParaRPr lang="en-US" sz="400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" y="1137920"/>
            <a:ext cx="12190730" cy="5476240"/>
          </a:xfrm>
        </p:spPr>
        <p:txBody>
          <a:bodyPr>
            <a:noAutofit/>
          </a:bodyPr>
          <a:p>
            <a:pPr marL="0" indent="0" algn="just">
              <a:lnSpc>
                <a:spcPct val="130000"/>
              </a:lnSpc>
              <a:buNone/>
            </a:pPr>
            <a:r>
              <a:rPr lang="en-US" sz="3600" b="1">
                <a:solidFill>
                  <a:schemeClr val="accent6">
                    <a:lumMod val="75000"/>
                  </a:schemeClr>
                </a:solidFill>
              </a:rPr>
              <a:t>Manual Integration</a:t>
            </a:r>
            <a:endParaRPr lang="en-US" sz="3600" b="1">
              <a:solidFill>
                <a:schemeClr val="accent6">
                  <a:lumMod val="75000"/>
                </a:schemeClr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sz="3600">
                <a:solidFill>
                  <a:srgbClr val="002060"/>
                </a:solidFill>
              </a:rPr>
              <a:t>Developers must hardcode every tool and define how it connects to external systems.</a:t>
            </a:r>
            <a:endParaRPr lang="en-US" sz="3600">
              <a:solidFill>
                <a:srgbClr val="002060"/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sz="3600">
                <a:solidFill>
                  <a:srgbClr val="002060"/>
                </a:solidFill>
              </a:rPr>
              <a:t>There’s no auto-discovery or dynamic registration of tools.</a:t>
            </a:r>
            <a:endParaRPr lang="en-US" sz="3600">
              <a:solidFill>
                <a:srgbClr val="002060"/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sz="3600">
                <a:solidFill>
                  <a:srgbClr val="002060"/>
                </a:solidFill>
              </a:rPr>
              <a:t>Scaling from 3 to 30 tools quickly becomes a maintenance burden.</a:t>
            </a:r>
            <a:endParaRPr lang="en-US" sz="3600">
              <a:solidFill>
                <a:srgbClr val="002060"/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sz="3600" b="1">
                <a:solidFill>
                  <a:srgbClr val="002060"/>
                </a:solidFill>
              </a:rPr>
              <a:t>Led to fragile orchestration and poor scalability</a:t>
            </a:r>
            <a:endParaRPr lang="en-US" sz="3600" b="1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295" y="118745"/>
            <a:ext cx="11537315" cy="879475"/>
          </a:xfrm>
        </p:spPr>
        <p:txBody>
          <a:bodyPr/>
          <a:p>
            <a:pPr algn="ctr"/>
            <a:r>
              <a:rPr lang="en-US" sz="4000">
                <a:solidFill>
                  <a:srgbClr val="FF0000"/>
                </a:solidFill>
              </a:rPr>
              <a:t>Solution by MCP</a:t>
            </a:r>
            <a:endParaRPr lang="en-US" sz="400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47725"/>
            <a:ext cx="12190730" cy="5476240"/>
          </a:xfrm>
        </p:spPr>
        <p:txBody>
          <a:bodyPr>
            <a:noAutofit/>
          </a:bodyPr>
          <a:p>
            <a:pPr marL="0" indent="0" algn="just">
              <a:lnSpc>
                <a:spcPct val="120000"/>
              </a:lnSpc>
              <a:buNone/>
            </a:pPr>
            <a:r>
              <a:rPr lang="en-US" sz="3600" b="1">
                <a:solidFill>
                  <a:schemeClr val="accent6">
                    <a:lumMod val="75000"/>
                  </a:schemeClr>
                </a:solidFill>
              </a:rPr>
              <a:t>Dynamic tool discovery</a:t>
            </a:r>
            <a:endParaRPr lang="en-US" sz="3600" b="1">
              <a:solidFill>
                <a:schemeClr val="accent6">
                  <a:lumMod val="75000"/>
                </a:schemeClr>
              </a:solidFill>
            </a:endParaRPr>
          </a:p>
          <a:p>
            <a:pPr algn="just">
              <a:lnSpc>
                <a:spcPct val="120000"/>
              </a:lnSpc>
            </a:pPr>
            <a:r>
              <a:rPr lang="en-US" sz="3600">
                <a:solidFill>
                  <a:srgbClr val="002060"/>
                </a:solidFill>
              </a:rPr>
              <a:t>When an MCP client connects to an MCP server, the server announces the list of tools and data sources it provides.</a:t>
            </a:r>
            <a:endParaRPr lang="en-US" sz="3600">
              <a:solidFill>
                <a:srgbClr val="002060"/>
              </a:solidFill>
            </a:endParaRPr>
          </a:p>
          <a:p>
            <a:pPr algn="just">
              <a:lnSpc>
                <a:spcPct val="120000"/>
              </a:lnSpc>
            </a:pPr>
            <a:r>
              <a:rPr lang="en-US" sz="3600">
                <a:solidFill>
                  <a:srgbClr val="002060"/>
                </a:solidFill>
              </a:rPr>
              <a:t>Model can query list_tools or list_resources to know what’s available.</a:t>
            </a:r>
            <a:endParaRPr lang="en-US" sz="3600">
              <a:solidFill>
                <a:srgbClr val="002060"/>
              </a:solidFill>
            </a:endParaRPr>
          </a:p>
          <a:p>
            <a:pPr algn="just">
              <a:lnSpc>
                <a:spcPct val="120000"/>
              </a:lnSpc>
            </a:pPr>
            <a:r>
              <a:rPr lang="en-US" sz="3600">
                <a:solidFill>
                  <a:srgbClr val="002060"/>
                </a:solidFill>
              </a:rPr>
              <a:t>New tools can be added to a server without modifying the client.</a:t>
            </a:r>
            <a:endParaRPr lang="en-US" sz="3600">
              <a:solidFill>
                <a:srgbClr val="002060"/>
              </a:solidFill>
            </a:endParaRP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3600" b="1">
                <a:solidFill>
                  <a:srgbClr val="002060"/>
                </a:solidFill>
              </a:rPr>
              <a:t>Instead of hardcoding all APIs, the LLM “browses” a catalog of available tools at runtime.</a:t>
            </a:r>
            <a:endParaRPr lang="en-US" sz="3600" b="1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15" y="258445"/>
            <a:ext cx="11537315" cy="879475"/>
          </a:xfrm>
        </p:spPr>
        <p:txBody>
          <a:bodyPr/>
          <a:p>
            <a:pPr algn="ctr"/>
            <a:r>
              <a:rPr lang="en-US" sz="4000">
                <a:solidFill>
                  <a:srgbClr val="FF0000"/>
                </a:solidFill>
                <a:sym typeface="+mn-ea"/>
              </a:rPr>
              <a:t>Drawbacks and Limitations of Tool Calling</a:t>
            </a:r>
            <a:endParaRPr lang="en-US" sz="400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" y="1137920"/>
            <a:ext cx="12190730" cy="5476240"/>
          </a:xfrm>
        </p:spPr>
        <p:txBody>
          <a:bodyPr>
            <a:noAutofit/>
          </a:bodyPr>
          <a:p>
            <a:pPr marL="0" indent="0" algn="just">
              <a:lnSpc>
                <a:spcPct val="130000"/>
              </a:lnSpc>
              <a:buNone/>
            </a:pPr>
            <a:r>
              <a:rPr lang="en-US" sz="3600" b="1">
                <a:solidFill>
                  <a:srgbClr val="002060"/>
                </a:solidFill>
              </a:rPr>
              <a:t>Opaque and Risky Data Access</a:t>
            </a:r>
            <a:endParaRPr lang="en-US" sz="3600" b="1">
              <a:solidFill>
                <a:srgbClr val="002060"/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sz="3600">
                <a:solidFill>
                  <a:srgbClr val="002060"/>
                </a:solidFill>
              </a:rPr>
              <a:t>Once you connect APIs, you must trust the LLM to call them correctly.</a:t>
            </a:r>
            <a:endParaRPr lang="en-US" sz="3600">
              <a:solidFill>
                <a:srgbClr val="002060"/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sz="3600">
                <a:solidFill>
                  <a:srgbClr val="002060"/>
                </a:solidFill>
              </a:rPr>
              <a:t>There’s no visibility or inspection mechanism for end-users.</a:t>
            </a:r>
            <a:endParaRPr lang="en-US" sz="3600">
              <a:solidFill>
                <a:srgbClr val="002060"/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sz="3600">
                <a:solidFill>
                  <a:srgbClr val="002060"/>
                </a:solidFill>
              </a:rPr>
              <a:t>It’s easy to leak sensitive data if not sandboxed carefully.</a:t>
            </a:r>
            <a:endParaRPr lang="en-US" sz="3600">
              <a:solidFill>
                <a:srgbClr val="002060"/>
              </a:solidFill>
            </a:endParaRPr>
          </a:p>
          <a:p>
            <a:pPr marL="0" indent="0" algn="just">
              <a:lnSpc>
                <a:spcPct val="130000"/>
              </a:lnSpc>
              <a:buNone/>
            </a:pPr>
            <a:r>
              <a:rPr lang="en-US" sz="3600" b="1">
                <a:solidFill>
                  <a:srgbClr val="002060"/>
                </a:solidFill>
              </a:rPr>
              <a:t>Privacy and security risks</a:t>
            </a:r>
            <a:endParaRPr lang="en-US" sz="3600" b="1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15" y="258445"/>
            <a:ext cx="11537315" cy="879475"/>
          </a:xfrm>
        </p:spPr>
        <p:txBody>
          <a:bodyPr/>
          <a:p>
            <a:pPr algn="ctr"/>
            <a:r>
              <a:rPr lang="en-US" sz="4000">
                <a:solidFill>
                  <a:srgbClr val="FF0000"/>
                </a:solidFill>
              </a:rPr>
              <a:t>Solution by MCP</a:t>
            </a:r>
            <a:endParaRPr lang="en-US" sz="400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" y="1137920"/>
            <a:ext cx="12190730" cy="5476240"/>
          </a:xfrm>
        </p:spPr>
        <p:txBody>
          <a:bodyPr>
            <a:noAutofit/>
          </a:bodyPr>
          <a:p>
            <a:pPr marL="0" indent="0" algn="just">
              <a:lnSpc>
                <a:spcPct val="130000"/>
              </a:lnSpc>
              <a:buNone/>
            </a:pPr>
            <a:r>
              <a:rPr lang="en-US" sz="3600" b="1">
                <a:solidFill>
                  <a:schemeClr val="accent6">
                    <a:lumMod val="75000"/>
                  </a:schemeClr>
                </a:solidFill>
              </a:rPr>
              <a:t>User-inspectable connections</a:t>
            </a:r>
            <a:endParaRPr lang="en-US" sz="3600">
              <a:solidFill>
                <a:srgbClr val="002060"/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sz="3600">
                <a:solidFill>
                  <a:srgbClr val="002060"/>
                </a:solidFill>
              </a:rPr>
              <a:t>MCP clients (like Claude Desktop or MCP Inspector) show exactly:</a:t>
            </a:r>
            <a:endParaRPr lang="en-US" sz="3600">
              <a:solidFill>
                <a:srgbClr val="002060"/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sz="3600">
                <a:solidFill>
                  <a:srgbClr val="002060"/>
                </a:solidFill>
              </a:rPr>
              <a:t>Which servers are connected</a:t>
            </a:r>
            <a:endParaRPr lang="en-US" sz="3600">
              <a:solidFill>
                <a:srgbClr val="002060"/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sz="3600">
                <a:solidFill>
                  <a:srgbClr val="002060"/>
                </a:solidFill>
              </a:rPr>
              <a:t>What tools and data sources they expose</a:t>
            </a:r>
            <a:endParaRPr lang="en-US" sz="3600">
              <a:solidFill>
                <a:srgbClr val="002060"/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sz="3600">
                <a:solidFill>
                  <a:srgbClr val="002060"/>
                </a:solidFill>
              </a:rPr>
              <a:t>What actions the model can perform</a:t>
            </a:r>
            <a:endParaRPr lang="en-US" sz="3600">
              <a:solidFill>
                <a:srgbClr val="002060"/>
              </a:solidFill>
            </a:endParaRPr>
          </a:p>
          <a:p>
            <a:pPr algn="just">
              <a:lnSpc>
                <a:spcPct val="130000"/>
              </a:lnSpc>
            </a:pPr>
            <a:endParaRPr lang="en-US" sz="360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15" y="258445"/>
            <a:ext cx="11537315" cy="879475"/>
          </a:xfrm>
        </p:spPr>
        <p:txBody>
          <a:bodyPr/>
          <a:p>
            <a:pPr algn="ctr"/>
            <a:r>
              <a:rPr lang="en-US" sz="4000">
                <a:solidFill>
                  <a:srgbClr val="FF0000"/>
                </a:solidFill>
              </a:rPr>
              <a:t>Solution by MCP</a:t>
            </a:r>
            <a:endParaRPr lang="en-US" sz="400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" y="1137920"/>
            <a:ext cx="12190730" cy="5476240"/>
          </a:xfrm>
        </p:spPr>
        <p:txBody>
          <a:bodyPr>
            <a:noAutofit/>
          </a:bodyPr>
          <a:p>
            <a:pPr algn="just">
              <a:lnSpc>
                <a:spcPct val="150000"/>
              </a:lnSpc>
            </a:pPr>
            <a:r>
              <a:rPr lang="en-US" sz="3600" b="1">
                <a:solidFill>
                  <a:srgbClr val="002060"/>
                </a:solidFill>
              </a:rPr>
              <a:t>Explicit consent:</a:t>
            </a:r>
            <a:r>
              <a:rPr lang="en-US" sz="3600">
                <a:solidFill>
                  <a:srgbClr val="002060"/>
                </a:solidFill>
              </a:rPr>
              <a:t> Model can’t access a resource unless the user explicitly authorizes that server.</a:t>
            </a:r>
            <a:endParaRPr lang="en-US" sz="3600">
              <a:solidFill>
                <a:srgbClr val="002060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US" sz="3600" b="1">
                <a:solidFill>
                  <a:srgbClr val="002060"/>
                </a:solidFill>
              </a:rPr>
              <a:t>Sandboxed execution:</a:t>
            </a:r>
            <a:r>
              <a:rPr lang="en-US" sz="3600">
                <a:solidFill>
                  <a:srgbClr val="002060"/>
                </a:solidFill>
              </a:rPr>
              <a:t> Each MCP server runs in a separate process — so compromising one doesn’t expose others.</a:t>
            </a:r>
            <a:endParaRPr lang="en-US" sz="3600">
              <a:solidFill>
                <a:srgbClr val="002060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US" sz="3600" b="1">
                <a:solidFill>
                  <a:srgbClr val="002060"/>
                </a:solidFill>
              </a:rPr>
              <a:t>Like Android’s app permissions — you can see and control what each “app” (server) is allowed to do.</a:t>
            </a:r>
            <a:endParaRPr lang="en-US" sz="3600" b="1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15" y="258445"/>
            <a:ext cx="11537315" cy="879475"/>
          </a:xfrm>
        </p:spPr>
        <p:txBody>
          <a:bodyPr/>
          <a:p>
            <a:pPr algn="ctr"/>
            <a:r>
              <a:rPr lang="en-US" sz="4000">
                <a:solidFill>
                  <a:srgbClr val="FF0000"/>
                </a:solidFill>
                <a:sym typeface="+mn-ea"/>
              </a:rPr>
              <a:t>Drawbacks and Limitations of Tool Calling</a:t>
            </a:r>
            <a:endParaRPr lang="en-US" sz="400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" y="1137920"/>
            <a:ext cx="12190730" cy="5476240"/>
          </a:xfrm>
        </p:spPr>
        <p:txBody>
          <a:bodyPr>
            <a:noAutofit/>
          </a:bodyPr>
          <a:p>
            <a:pPr marL="0" indent="0" algn="just">
              <a:lnSpc>
                <a:spcPct val="130000"/>
              </a:lnSpc>
              <a:buNone/>
            </a:pPr>
            <a:r>
              <a:rPr lang="en-US" sz="3600" b="1">
                <a:solidFill>
                  <a:schemeClr val="accent6">
                    <a:lumMod val="75000"/>
                  </a:schemeClr>
                </a:solidFill>
              </a:rPr>
              <a:t>Limited Context Sharing</a:t>
            </a:r>
            <a:endParaRPr lang="en-US" sz="3600">
              <a:solidFill>
                <a:srgbClr val="002060"/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sz="3600">
                <a:solidFill>
                  <a:srgbClr val="002060"/>
                </a:solidFill>
              </a:rPr>
              <a:t>Tool outputs must be fed back into the prompt manually.</a:t>
            </a:r>
            <a:endParaRPr lang="en-US" sz="3600">
              <a:solidFill>
                <a:srgbClr val="002060"/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sz="3600">
                <a:solidFill>
                  <a:srgbClr val="002060"/>
                </a:solidFill>
              </a:rPr>
              <a:t>No standard for maintaining shared context (memory, history, or knowledge graph).</a:t>
            </a:r>
            <a:endParaRPr lang="en-US" sz="3600">
              <a:solidFill>
                <a:srgbClr val="002060"/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sz="3600">
                <a:solidFill>
                  <a:srgbClr val="002060"/>
                </a:solidFill>
              </a:rPr>
              <a:t>Each developer builds their own way to “chain” results.</a:t>
            </a:r>
            <a:endParaRPr lang="en-US" sz="3600">
              <a:solidFill>
                <a:srgbClr val="002060"/>
              </a:solidFill>
            </a:endParaRPr>
          </a:p>
          <a:p>
            <a:pPr marL="0" indent="0" algn="just">
              <a:lnSpc>
                <a:spcPct val="130000"/>
              </a:lnSpc>
              <a:buNone/>
            </a:pPr>
            <a:r>
              <a:rPr lang="en-US" sz="3600" b="1">
                <a:solidFill>
                  <a:srgbClr val="002060"/>
                </a:solidFill>
              </a:rPr>
              <a:t>Redundant data handling, increased token costs</a:t>
            </a:r>
            <a:endParaRPr lang="en-US" sz="3600" b="1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15" y="258445"/>
            <a:ext cx="11537315" cy="879475"/>
          </a:xfrm>
        </p:spPr>
        <p:txBody>
          <a:bodyPr/>
          <a:p>
            <a:pPr algn="ctr"/>
            <a:r>
              <a:rPr lang="en-US" sz="4000">
                <a:solidFill>
                  <a:srgbClr val="FF0000"/>
                </a:solidFill>
              </a:rPr>
              <a:t>Solution by MCP</a:t>
            </a:r>
            <a:endParaRPr lang="en-US" sz="400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" y="1137920"/>
            <a:ext cx="12190730" cy="5476240"/>
          </a:xfrm>
        </p:spPr>
        <p:txBody>
          <a:bodyPr>
            <a:noAutofit/>
          </a:bodyPr>
          <a:p>
            <a:pPr marL="0" indent="0" algn="just">
              <a:lnSpc>
                <a:spcPct val="130000"/>
              </a:lnSpc>
              <a:buNone/>
            </a:pPr>
            <a:r>
              <a:rPr lang="en-US" sz="3600" b="1">
                <a:solidFill>
                  <a:schemeClr val="accent6">
                    <a:lumMod val="75000"/>
                  </a:schemeClr>
                </a:solidFill>
              </a:rPr>
              <a:t>MCP introduces “Resources” and “Prompts”</a:t>
            </a:r>
            <a:endParaRPr lang="en-US" sz="3600">
              <a:solidFill>
                <a:schemeClr val="accent6">
                  <a:lumMod val="75000"/>
                </a:schemeClr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sz="3600">
                <a:solidFill>
                  <a:srgbClr val="002060"/>
                </a:solidFill>
              </a:rPr>
              <a:t>Resources = structured, queryable data (like files, databases, APIs)</a:t>
            </a:r>
            <a:endParaRPr lang="en-US" sz="3600">
              <a:solidFill>
                <a:srgbClr val="002060"/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sz="3600">
                <a:solidFill>
                  <a:srgbClr val="002060"/>
                </a:solidFill>
              </a:rPr>
              <a:t>Prompts = reusable contextual templates (like named prompt snippets)</a:t>
            </a:r>
            <a:endParaRPr lang="en-US" sz="3600">
              <a:solidFill>
                <a:srgbClr val="002060"/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sz="3600">
                <a:solidFill>
                  <a:srgbClr val="002060"/>
                </a:solidFill>
              </a:rPr>
              <a:t>Model can dynamically fetch and reuse these without embedding large text chunks every time.</a:t>
            </a:r>
            <a:endParaRPr lang="en-US" sz="3600">
              <a:solidFill>
                <a:srgbClr val="002060"/>
              </a:solidFill>
            </a:endParaRPr>
          </a:p>
          <a:p>
            <a:pPr algn="just">
              <a:lnSpc>
                <a:spcPct val="130000"/>
              </a:lnSpc>
            </a:pPr>
            <a:endParaRPr lang="en-US" sz="360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15" y="258445"/>
            <a:ext cx="11537315" cy="879475"/>
          </a:xfrm>
        </p:spPr>
        <p:txBody>
          <a:bodyPr/>
          <a:p>
            <a:pPr algn="ctr"/>
            <a:r>
              <a:rPr lang="en-US" sz="4000">
                <a:solidFill>
                  <a:srgbClr val="FF0000"/>
                </a:solidFill>
              </a:rPr>
              <a:t>Solution by MCP</a:t>
            </a:r>
            <a:endParaRPr lang="en-US" sz="400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" y="1137920"/>
            <a:ext cx="12190730" cy="5476240"/>
          </a:xfrm>
        </p:spPr>
        <p:txBody>
          <a:bodyPr>
            <a:noAutofit/>
          </a:bodyPr>
          <a:p>
            <a:pPr algn="just">
              <a:lnSpc>
                <a:spcPct val="130000"/>
              </a:lnSpc>
            </a:pPr>
            <a:r>
              <a:rPr lang="en-US" sz="3600" b="1">
                <a:solidFill>
                  <a:srgbClr val="002060"/>
                </a:solidFill>
              </a:rPr>
              <a:t> Context persistence</a:t>
            </a:r>
            <a:r>
              <a:rPr lang="en-US" sz="3600">
                <a:solidFill>
                  <a:srgbClr val="002060"/>
                </a:solidFill>
              </a:rPr>
              <a:t> is handled by the protocol, not by manual prompt engineering.</a:t>
            </a:r>
            <a:endParaRPr lang="en-US" sz="3600">
              <a:solidFill>
                <a:srgbClr val="002060"/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sz="3600" b="1">
                <a:solidFill>
                  <a:srgbClr val="002060"/>
                </a:solidFill>
              </a:rPr>
              <a:t>Instead of stuffing data into every conversation, the LLM can “mount” a shared drive of data sources and refer to them when needed.</a:t>
            </a:r>
            <a:endParaRPr lang="en-US" sz="3600" b="1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15" y="258445"/>
            <a:ext cx="11537315" cy="879475"/>
          </a:xfrm>
        </p:spPr>
        <p:txBody>
          <a:bodyPr/>
          <a:p>
            <a:pPr algn="ctr"/>
            <a:r>
              <a:rPr lang="en-US" sz="4000">
                <a:solidFill>
                  <a:srgbClr val="FF0000"/>
                </a:solidFill>
                <a:sym typeface="+mn-ea"/>
              </a:rPr>
              <a:t>Drawbacks and Limitations of Tool Calling</a:t>
            </a:r>
            <a:endParaRPr lang="en-US" sz="400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" y="1137920"/>
            <a:ext cx="12190730" cy="5476240"/>
          </a:xfrm>
        </p:spPr>
        <p:txBody>
          <a:bodyPr>
            <a:noAutofit/>
          </a:bodyPr>
          <a:p>
            <a:pPr marL="0" indent="0" algn="just">
              <a:lnSpc>
                <a:spcPct val="130000"/>
              </a:lnSpc>
              <a:buNone/>
            </a:pPr>
            <a:r>
              <a:rPr lang="en-US" sz="3600" b="1">
                <a:solidFill>
                  <a:srgbClr val="002060"/>
                </a:solidFill>
              </a:rPr>
              <a:t>No Multi-Tool Reasoning Standard</a:t>
            </a:r>
            <a:endParaRPr lang="en-US" sz="3600" b="1">
              <a:solidFill>
                <a:srgbClr val="002060"/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sz="3600">
                <a:solidFill>
                  <a:srgbClr val="002060"/>
                </a:solidFill>
              </a:rPr>
              <a:t>Models can technically call multiple tools, but coordinating multi-step reasoning (e.g., "plan → search → compute → summarize") requires external orchestration (LangChain, Semantic Kernel, etc.)</a:t>
            </a:r>
            <a:endParaRPr lang="en-US" sz="3600">
              <a:solidFill>
                <a:srgbClr val="002060"/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sz="3600">
                <a:solidFill>
                  <a:srgbClr val="002060"/>
                </a:solidFill>
              </a:rPr>
              <a:t>LLM doesn’t natively understand dependencies between tools</a:t>
            </a:r>
            <a:endParaRPr lang="en-US" sz="3600">
              <a:solidFill>
                <a:srgbClr val="002060"/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sz="3600">
                <a:solidFill>
                  <a:srgbClr val="002060"/>
                </a:solidFill>
              </a:rPr>
              <a:t>Developers must build agent frameworks on top of tool calling</a:t>
            </a:r>
            <a:endParaRPr lang="en-US" sz="360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15" y="258445"/>
            <a:ext cx="11537315" cy="879475"/>
          </a:xfrm>
        </p:spPr>
        <p:txBody>
          <a:bodyPr/>
          <a:p>
            <a:pPr algn="ctr"/>
            <a:r>
              <a:rPr lang="en-US" sz="4000">
                <a:solidFill>
                  <a:srgbClr val="FF0000"/>
                </a:solidFill>
              </a:rPr>
              <a:t>Solution by MCP</a:t>
            </a:r>
            <a:endParaRPr lang="en-US" sz="400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" y="1016000"/>
            <a:ext cx="12190730" cy="5476240"/>
          </a:xfrm>
        </p:spPr>
        <p:txBody>
          <a:bodyPr>
            <a:noAutofit/>
          </a:bodyPr>
          <a:p>
            <a:pPr marL="0" indent="0" algn="just">
              <a:lnSpc>
                <a:spcPct val="130000"/>
              </a:lnSpc>
              <a:buNone/>
            </a:pPr>
            <a:r>
              <a:rPr lang="en-US" sz="3600" b="1">
                <a:solidFill>
                  <a:schemeClr val="accent6">
                    <a:lumMod val="75000"/>
                  </a:schemeClr>
                </a:solidFill>
              </a:rPr>
              <a:t>MCP defines a consistent interface for all tools</a:t>
            </a:r>
            <a:endParaRPr lang="en-US" sz="3600">
              <a:solidFill>
                <a:srgbClr val="002060"/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sz="3600">
                <a:solidFill>
                  <a:srgbClr val="002060"/>
                </a:solidFill>
              </a:rPr>
              <a:t>Client (model or agent layer) can orchestrate multi-step tool use automatically.</a:t>
            </a:r>
            <a:endParaRPr lang="en-US" sz="3600">
              <a:solidFill>
                <a:srgbClr val="002060"/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sz="3600">
                <a:solidFill>
                  <a:srgbClr val="002060"/>
                </a:solidFill>
              </a:rPr>
              <a:t>The LLM can plan → call → observe → act → iterate, all within the same session.</a:t>
            </a:r>
            <a:endParaRPr lang="en-US" sz="3600">
              <a:solidFill>
                <a:srgbClr val="002060"/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sz="3600">
                <a:solidFill>
                  <a:srgbClr val="002060"/>
                </a:solidFill>
              </a:rPr>
              <a:t>Since tool metadata is standardized, orchestration frameworks can be built once and reused.🧠</a:t>
            </a:r>
            <a:endParaRPr lang="en-US" sz="360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15" y="258445"/>
            <a:ext cx="11537315" cy="879475"/>
          </a:xfrm>
        </p:spPr>
        <p:txBody>
          <a:bodyPr/>
          <a:p>
            <a:pPr algn="ctr"/>
            <a:r>
              <a:rPr lang="en-US" sz="4000">
                <a:solidFill>
                  <a:srgbClr val="FF0000"/>
                </a:solidFill>
              </a:rPr>
              <a:t>Solution by MCP</a:t>
            </a:r>
            <a:endParaRPr lang="en-US" sz="400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" y="1016000"/>
            <a:ext cx="12190730" cy="5476240"/>
          </a:xfrm>
        </p:spPr>
        <p:txBody>
          <a:bodyPr>
            <a:noAutofit/>
          </a:bodyPr>
          <a:p>
            <a:pPr marL="0" indent="0" algn="just">
              <a:lnSpc>
                <a:spcPct val="130000"/>
              </a:lnSpc>
              <a:buNone/>
            </a:pPr>
            <a:r>
              <a:rPr lang="en-US" sz="3600" b="1">
                <a:solidFill>
                  <a:srgbClr val="002060"/>
                </a:solidFill>
              </a:rPr>
              <a:t>Instead of teaching every model how to use every machine, MCP makes all machines follow the same instruction manual — easier to automate workflows.</a:t>
            </a:r>
            <a:endParaRPr lang="en-US" sz="3600" b="1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15" y="4445"/>
            <a:ext cx="11537315" cy="879475"/>
          </a:xfrm>
        </p:spPr>
        <p:txBody>
          <a:bodyPr/>
          <a:p>
            <a:pPr algn="ctr"/>
            <a:r>
              <a:rPr lang="en-US" sz="4000">
                <a:solidFill>
                  <a:srgbClr val="FF0000"/>
                </a:solidFill>
                <a:sym typeface="+mn-ea"/>
              </a:rPr>
              <a:t>Drawbacks and Limitations of Tool Calling</a:t>
            </a:r>
            <a:endParaRPr lang="en-US" sz="400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" y="812800"/>
            <a:ext cx="12190730" cy="5476240"/>
          </a:xfrm>
        </p:spPr>
        <p:txBody>
          <a:bodyPr>
            <a:noAutofit/>
          </a:bodyPr>
          <a:p>
            <a:pPr marL="0" indent="0" algn="just">
              <a:lnSpc>
                <a:spcPct val="120000"/>
              </a:lnSpc>
              <a:buNone/>
            </a:pPr>
            <a:r>
              <a:rPr lang="en-US" sz="3600" b="1">
                <a:solidFill>
                  <a:schemeClr val="accent6">
                    <a:lumMod val="75000"/>
                  </a:schemeClr>
                </a:solidFill>
              </a:rPr>
              <a:t>Hard to Audit or Explain</a:t>
            </a:r>
            <a:endParaRPr lang="en-US" sz="3600">
              <a:solidFill>
                <a:srgbClr val="002060"/>
              </a:solidFill>
            </a:endParaRPr>
          </a:p>
          <a:p>
            <a:pPr algn="just">
              <a:lnSpc>
                <a:spcPct val="120000"/>
              </a:lnSpc>
            </a:pPr>
            <a:r>
              <a:rPr lang="en-US" sz="3600">
                <a:solidFill>
                  <a:srgbClr val="002060"/>
                </a:solidFill>
              </a:rPr>
              <a:t>There’s no transparent way to see:</a:t>
            </a:r>
            <a:endParaRPr lang="en-US" sz="3600">
              <a:solidFill>
                <a:srgbClr val="002060"/>
              </a:solidFill>
            </a:endParaRPr>
          </a:p>
          <a:p>
            <a:pPr algn="just">
              <a:lnSpc>
                <a:spcPct val="120000"/>
              </a:lnSpc>
            </a:pPr>
            <a:r>
              <a:rPr lang="en-US" sz="3600">
                <a:solidFill>
                  <a:srgbClr val="002060"/>
                </a:solidFill>
              </a:rPr>
              <a:t>What tools were available</a:t>
            </a:r>
            <a:endParaRPr lang="en-US" sz="3600">
              <a:solidFill>
                <a:srgbClr val="002060"/>
              </a:solidFill>
            </a:endParaRPr>
          </a:p>
          <a:p>
            <a:pPr algn="just">
              <a:lnSpc>
                <a:spcPct val="120000"/>
              </a:lnSpc>
            </a:pPr>
            <a:r>
              <a:rPr lang="en-US" sz="3600">
                <a:solidFill>
                  <a:srgbClr val="002060"/>
                </a:solidFill>
              </a:rPr>
              <a:t>What the model actually called</a:t>
            </a:r>
            <a:endParaRPr lang="en-US" sz="3600">
              <a:solidFill>
                <a:srgbClr val="002060"/>
              </a:solidFill>
            </a:endParaRPr>
          </a:p>
          <a:p>
            <a:pPr algn="just">
              <a:lnSpc>
                <a:spcPct val="120000"/>
              </a:lnSpc>
            </a:pPr>
            <a:r>
              <a:rPr lang="en-US" sz="3600">
                <a:solidFill>
                  <a:srgbClr val="002060"/>
                </a:solidFill>
              </a:rPr>
              <a:t>What data was passed</a:t>
            </a:r>
            <a:endParaRPr lang="en-US" sz="3600">
              <a:solidFill>
                <a:srgbClr val="002060"/>
              </a:solidFill>
            </a:endParaRPr>
          </a:p>
          <a:p>
            <a:pPr algn="just">
              <a:lnSpc>
                <a:spcPct val="120000"/>
              </a:lnSpc>
            </a:pPr>
            <a:r>
              <a:rPr lang="en-US" sz="3600">
                <a:solidFill>
                  <a:srgbClr val="002060"/>
                </a:solidFill>
              </a:rPr>
              <a:t>Tool calling logs are usually hidden or partial</a:t>
            </a:r>
            <a:endParaRPr lang="en-US" sz="3600">
              <a:solidFill>
                <a:srgbClr val="002060"/>
              </a:solidFill>
            </a:endParaRPr>
          </a:p>
          <a:p>
            <a:pPr marL="0" indent="0" algn="just">
              <a:lnSpc>
                <a:spcPct val="120000"/>
              </a:lnSpc>
              <a:buNone/>
            </a:pPr>
            <a:r>
              <a:rPr lang="en-US" sz="3600" b="1">
                <a:solidFill>
                  <a:srgbClr val="002060"/>
                </a:solidFill>
              </a:rPr>
              <a:t>Poor explainability and traceability — a problem for regulated domains (finance, healthcare, education).</a:t>
            </a:r>
            <a:endParaRPr lang="en-US" sz="3600" b="1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15" y="258445"/>
            <a:ext cx="11537315" cy="879475"/>
          </a:xfrm>
        </p:spPr>
        <p:txBody>
          <a:bodyPr/>
          <a:p>
            <a:pPr algn="ctr"/>
            <a:r>
              <a:rPr lang="en-US" sz="4000">
                <a:solidFill>
                  <a:srgbClr val="FF0000"/>
                </a:solidFill>
              </a:rPr>
              <a:t>Solution by MCP</a:t>
            </a:r>
            <a:endParaRPr lang="en-US" sz="400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" y="1137920"/>
            <a:ext cx="12190730" cy="5476240"/>
          </a:xfrm>
        </p:spPr>
        <p:txBody>
          <a:bodyPr>
            <a:noAutofit/>
          </a:bodyPr>
          <a:p>
            <a:pPr marL="0" indent="0" algn="just">
              <a:lnSpc>
                <a:spcPct val="130000"/>
              </a:lnSpc>
              <a:buNone/>
            </a:pPr>
            <a:r>
              <a:rPr lang="en-US" sz="3600" b="1">
                <a:solidFill>
                  <a:schemeClr val="accent6">
                    <a:lumMod val="75000"/>
                  </a:schemeClr>
                </a:solidFill>
              </a:rPr>
              <a:t>Full introspection</a:t>
            </a:r>
            <a:endParaRPr lang="en-US" sz="3600" b="1">
              <a:solidFill>
                <a:srgbClr val="002060"/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sz="3600">
                <a:solidFill>
                  <a:srgbClr val="002060"/>
                </a:solidFill>
              </a:rPr>
              <a:t>Tools and data sources are enumerable — the client or user can inspect their definitions.</a:t>
            </a:r>
            <a:endParaRPr lang="en-US" sz="3600">
              <a:solidFill>
                <a:srgbClr val="002060"/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sz="3600" b="1">
                <a:solidFill>
                  <a:srgbClr val="002060"/>
                </a:solidFill>
              </a:rPr>
              <a:t>Inspectors and Logs: </a:t>
            </a:r>
            <a:r>
              <a:rPr lang="en-US" sz="3600">
                <a:solidFill>
                  <a:srgbClr val="002060"/>
                </a:solidFill>
              </a:rPr>
              <a:t>Tools like mcp-inspector can visualize all tool calls, inputs, and outputs.</a:t>
            </a:r>
            <a:endParaRPr lang="en-US" sz="3600">
              <a:solidFill>
                <a:srgbClr val="002060"/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sz="3600" b="1">
                <a:solidFill>
                  <a:srgbClr val="002060"/>
                </a:solidFill>
              </a:rPr>
              <a:t>Reproducibility: </a:t>
            </a:r>
            <a:r>
              <a:rPr lang="en-US" sz="3600">
                <a:solidFill>
                  <a:srgbClr val="002060"/>
                </a:solidFill>
              </a:rPr>
              <a:t>Since MCP uses JSON-RPC, every request/response is logged and replayable.</a:t>
            </a:r>
            <a:endParaRPr lang="en-US" sz="3600">
              <a:solidFill>
                <a:srgbClr val="002060"/>
              </a:solidFill>
            </a:endParaRPr>
          </a:p>
          <a:p>
            <a:pPr algn="just">
              <a:lnSpc>
                <a:spcPct val="130000"/>
              </a:lnSpc>
            </a:pPr>
            <a:endParaRPr lang="en-US" sz="360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15" y="258445"/>
            <a:ext cx="11537315" cy="879475"/>
          </a:xfrm>
        </p:spPr>
        <p:txBody>
          <a:bodyPr/>
          <a:p>
            <a:pPr algn="ctr"/>
            <a:r>
              <a:rPr lang="en-US" sz="4000">
                <a:solidFill>
                  <a:srgbClr val="FF0000"/>
                </a:solidFill>
              </a:rPr>
              <a:t>Solution by MCP</a:t>
            </a:r>
            <a:endParaRPr lang="en-US" sz="400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" y="1137920"/>
            <a:ext cx="12190730" cy="5476240"/>
          </a:xfrm>
        </p:spPr>
        <p:txBody>
          <a:bodyPr>
            <a:noAutofit/>
          </a:bodyPr>
          <a:p>
            <a:pPr algn="just">
              <a:lnSpc>
                <a:spcPct val="130000"/>
              </a:lnSpc>
            </a:pPr>
            <a:r>
              <a:rPr lang="en-US" sz="3600" b="1">
                <a:solidFill>
                  <a:srgbClr val="002060"/>
                </a:solidFill>
              </a:rPr>
              <a:t>MCP is like adding a flight recorder (“black box”) to every AI action — every tool call is traceable and inspectable.</a:t>
            </a:r>
            <a:endParaRPr lang="en-US" sz="3600" b="1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0375" y="176530"/>
            <a:ext cx="11473815" cy="645414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15" y="258445"/>
            <a:ext cx="11537315" cy="879475"/>
          </a:xfrm>
        </p:spPr>
        <p:txBody>
          <a:bodyPr/>
          <a:p>
            <a:pPr algn="ctr"/>
            <a:r>
              <a:rPr lang="en-US" sz="4000">
                <a:solidFill>
                  <a:srgbClr val="FF0000"/>
                </a:solidFill>
                <a:sym typeface="+mn-ea"/>
              </a:rPr>
              <a:t>Fields Where MCP Is Being Used (or Explored)</a:t>
            </a:r>
            <a:endParaRPr lang="en-US" sz="4000">
              <a:solidFill>
                <a:srgbClr val="FF0000"/>
              </a:solidFill>
              <a:sym typeface="+mn-ea"/>
            </a:endParaRPr>
          </a:p>
        </p:txBody>
      </p:sp>
      <p:graphicFrame>
        <p:nvGraphicFramePr>
          <p:cNvPr id="5" name="Content Placeholder 4"/>
          <p:cNvGraphicFramePr/>
          <p:nvPr>
            <p:ph idx="1"/>
          </p:nvPr>
        </p:nvGraphicFramePr>
        <p:xfrm>
          <a:off x="334010" y="1137920"/>
          <a:ext cx="11523345" cy="55632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34665"/>
                <a:gridCol w="4185285"/>
                <a:gridCol w="4303395"/>
              </a:tblGrid>
              <a:tr h="59499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200"/>
                        <a:t>Field / Sector</a:t>
                      </a:r>
                      <a:endParaRPr lang="en-US" sz="3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200">
                          <a:sym typeface="+mn-ea"/>
                        </a:rPr>
                        <a:t>How MCP Is Used</a:t>
                      </a:r>
                      <a:endParaRPr lang="en-US" sz="3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200">
                          <a:sym typeface="+mn-ea"/>
                        </a:rPr>
                        <a:t>Example Use Cases</a:t>
                      </a:r>
                      <a:endParaRPr lang="en-US" sz="3200">
                        <a:sym typeface="+mn-ea"/>
                      </a:endParaRPr>
                    </a:p>
                  </a:txBody>
                  <a:tcPr/>
                </a:tc>
              </a:tr>
              <a:tr h="68516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200">
                          <a:solidFill>
                            <a:srgbClr val="002060"/>
                          </a:solidFill>
                        </a:rPr>
                        <a:t>Healthcare</a:t>
                      </a:r>
                      <a:endParaRPr lang="en-US" sz="320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200">
                          <a:solidFill>
                            <a:srgbClr val="002060"/>
                          </a:solidFill>
                        </a:rPr>
                        <a:t>Securely connecting AI models to medical databases and diagnostic tools</a:t>
                      </a:r>
                      <a:endParaRPr lang="en-US" sz="320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200">
                          <a:solidFill>
                            <a:srgbClr val="002060"/>
                          </a:solidFill>
                        </a:rPr>
                        <a:t>- Let clinicians query anonymized patient data via an MCP-SQL server</a:t>
                      </a:r>
                      <a:endParaRPr lang="en-US" sz="3200">
                        <a:solidFill>
                          <a:srgbClr val="002060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en-US" sz="3200">
                          <a:solidFill>
                            <a:srgbClr val="002060"/>
                          </a:solidFill>
                        </a:rPr>
                        <a:t>- Access medical literature through an MCP-PubMed connector</a:t>
                      </a:r>
                      <a:endParaRPr lang="en-US" sz="3200">
                        <a:solidFill>
                          <a:srgbClr val="002060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en-US" sz="3200">
                          <a:solidFill>
                            <a:srgbClr val="002060"/>
                          </a:solidFill>
                        </a:rPr>
                        <a:t>- Use MCP-Python for model-assisted data analysis </a:t>
                      </a:r>
                      <a:endParaRPr lang="en-US" sz="320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15" y="258445"/>
            <a:ext cx="11537315" cy="879475"/>
          </a:xfrm>
        </p:spPr>
        <p:txBody>
          <a:bodyPr/>
          <a:p>
            <a:pPr algn="ctr"/>
            <a:r>
              <a:rPr lang="en-US" sz="4000">
                <a:solidFill>
                  <a:srgbClr val="FF0000"/>
                </a:solidFill>
                <a:sym typeface="+mn-ea"/>
              </a:rPr>
              <a:t>Fields Where MCP Is Being Used (or Explored)</a:t>
            </a:r>
            <a:endParaRPr lang="en-US" sz="4000">
              <a:solidFill>
                <a:srgbClr val="FF0000"/>
              </a:solidFill>
              <a:sym typeface="+mn-ea"/>
            </a:endParaRPr>
          </a:p>
        </p:txBody>
      </p:sp>
      <p:graphicFrame>
        <p:nvGraphicFramePr>
          <p:cNvPr id="5" name="Content Placeholder 4"/>
          <p:cNvGraphicFramePr/>
          <p:nvPr>
            <p:ph idx="1"/>
          </p:nvPr>
        </p:nvGraphicFramePr>
        <p:xfrm>
          <a:off x="334010" y="1137920"/>
          <a:ext cx="11523345" cy="55632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34665"/>
                <a:gridCol w="4185285"/>
                <a:gridCol w="4303395"/>
              </a:tblGrid>
              <a:tr h="59499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200"/>
                        <a:t>Field / Sector</a:t>
                      </a:r>
                      <a:endParaRPr lang="en-US" sz="3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200">
                          <a:sym typeface="+mn-ea"/>
                        </a:rPr>
                        <a:t>How MCP Is Used</a:t>
                      </a:r>
                      <a:endParaRPr lang="en-US" sz="3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200">
                          <a:sym typeface="+mn-ea"/>
                        </a:rPr>
                        <a:t>Example Use Cases</a:t>
                      </a:r>
                      <a:endParaRPr lang="en-US" sz="3200">
                        <a:sym typeface="+mn-ea"/>
                      </a:endParaRPr>
                    </a:p>
                  </a:txBody>
                  <a:tcPr/>
                </a:tc>
              </a:tr>
              <a:tr h="68516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200">
                          <a:solidFill>
                            <a:srgbClr val="002060"/>
                          </a:solidFill>
                        </a:rPr>
                        <a:t>Education &amp; EdTech</a:t>
                      </a:r>
                      <a:endParaRPr lang="en-US" sz="320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200">
                          <a:solidFill>
                            <a:srgbClr val="002060"/>
                          </a:solidFill>
                        </a:rPr>
                        <a:t>Bridging LLMs with Learning Management Systems (LMS) and institutional repositories</a:t>
                      </a:r>
                      <a:endParaRPr lang="en-US" sz="320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200">
                          <a:solidFill>
                            <a:srgbClr val="002060"/>
                          </a:solidFill>
                        </a:rPr>
                        <a:t>- Personalized tutoring agents that fetch materials via MCP</a:t>
                      </a:r>
                      <a:endParaRPr lang="en-US" sz="3200">
                        <a:solidFill>
                          <a:srgbClr val="002060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en-US" sz="3200">
                          <a:solidFill>
                            <a:srgbClr val="002060"/>
                          </a:solidFill>
                        </a:rPr>
                        <a:t>- Automated grading or analytics from student performance databases</a:t>
                      </a:r>
                      <a:endParaRPr lang="en-US" sz="3200">
                        <a:solidFill>
                          <a:srgbClr val="002060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en-US" sz="3200">
                          <a:solidFill>
                            <a:srgbClr val="002060"/>
                          </a:solidFill>
                        </a:rPr>
                        <a:t>- Research assistants that access academic sources securely</a:t>
                      </a:r>
                      <a:endParaRPr lang="en-US" sz="320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15" y="258445"/>
            <a:ext cx="11537315" cy="879475"/>
          </a:xfrm>
        </p:spPr>
        <p:txBody>
          <a:bodyPr/>
          <a:p>
            <a:pPr algn="ctr"/>
            <a:r>
              <a:rPr lang="en-US" sz="4000">
                <a:solidFill>
                  <a:srgbClr val="FF0000"/>
                </a:solidFill>
                <a:sym typeface="+mn-ea"/>
              </a:rPr>
              <a:t>Fields Where MCP Is Being Used (or Explored)</a:t>
            </a:r>
            <a:endParaRPr lang="en-US" sz="4000">
              <a:solidFill>
                <a:srgbClr val="FF0000"/>
              </a:solidFill>
              <a:sym typeface="+mn-ea"/>
            </a:endParaRPr>
          </a:p>
        </p:txBody>
      </p:sp>
      <p:graphicFrame>
        <p:nvGraphicFramePr>
          <p:cNvPr id="5" name="Content Placeholder 4"/>
          <p:cNvGraphicFramePr/>
          <p:nvPr>
            <p:ph idx="1"/>
          </p:nvPr>
        </p:nvGraphicFramePr>
        <p:xfrm>
          <a:off x="334010" y="1137920"/>
          <a:ext cx="11523345" cy="55632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34665"/>
                <a:gridCol w="4185285"/>
                <a:gridCol w="4303395"/>
              </a:tblGrid>
              <a:tr h="59499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200"/>
                        <a:t>Field / Sector</a:t>
                      </a:r>
                      <a:endParaRPr lang="en-US" sz="3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200">
                          <a:sym typeface="+mn-ea"/>
                        </a:rPr>
                        <a:t>How MCP Is Used</a:t>
                      </a:r>
                      <a:endParaRPr lang="en-US" sz="3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200">
                          <a:sym typeface="+mn-ea"/>
                        </a:rPr>
                        <a:t>Example Use Cases</a:t>
                      </a:r>
                      <a:endParaRPr lang="en-US" sz="3200">
                        <a:sym typeface="+mn-ea"/>
                      </a:endParaRPr>
                    </a:p>
                  </a:txBody>
                  <a:tcPr/>
                </a:tc>
              </a:tr>
              <a:tr h="68516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200">
                          <a:solidFill>
                            <a:srgbClr val="002060"/>
                          </a:solidFill>
                        </a:rPr>
                        <a:t>Enterprise / Business Automation</a:t>
                      </a:r>
                      <a:endParaRPr lang="en-US" sz="320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200">
                          <a:solidFill>
                            <a:srgbClr val="002060"/>
                          </a:solidFill>
                        </a:rPr>
                        <a:t>Integrating LLMs with internal systems (ERP, CRM, HRMS, etc.)</a:t>
                      </a:r>
                      <a:endParaRPr lang="en-US" sz="320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200">
                          <a:solidFill>
                            <a:srgbClr val="002060"/>
                          </a:solidFill>
                        </a:rPr>
                        <a:t>- MCP servers connect Claude or other models to internal APIs</a:t>
                      </a:r>
                      <a:endParaRPr lang="en-US" sz="3200">
                        <a:solidFill>
                          <a:srgbClr val="002060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en-US" sz="3200">
                          <a:solidFill>
                            <a:srgbClr val="002060"/>
                          </a:solidFill>
                        </a:rPr>
                        <a:t>- Generate reports, answer queries, or automate workflows safely</a:t>
                      </a:r>
                      <a:endParaRPr lang="en-US" sz="3200">
                        <a:solidFill>
                          <a:srgbClr val="002060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en-US" sz="3200">
                          <a:solidFill>
                            <a:srgbClr val="002060"/>
                          </a:solidFill>
                        </a:rPr>
                        <a:t>- No sensitive data leaves the org boundary</a:t>
                      </a:r>
                      <a:endParaRPr lang="en-US" sz="320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15" y="258445"/>
            <a:ext cx="11537315" cy="879475"/>
          </a:xfrm>
        </p:spPr>
        <p:txBody>
          <a:bodyPr/>
          <a:p>
            <a:pPr algn="ctr"/>
            <a:r>
              <a:rPr lang="en-US" sz="4000">
                <a:solidFill>
                  <a:srgbClr val="FF0000"/>
                </a:solidFill>
                <a:sym typeface="+mn-ea"/>
              </a:rPr>
              <a:t>Fields Where MCP Is Being Used (or Explored)</a:t>
            </a:r>
            <a:endParaRPr lang="en-US" sz="4000">
              <a:solidFill>
                <a:srgbClr val="FF0000"/>
              </a:solidFill>
              <a:sym typeface="+mn-ea"/>
            </a:endParaRPr>
          </a:p>
        </p:txBody>
      </p:sp>
      <p:graphicFrame>
        <p:nvGraphicFramePr>
          <p:cNvPr id="5" name="Content Placeholder 4"/>
          <p:cNvGraphicFramePr/>
          <p:nvPr>
            <p:ph idx="1"/>
          </p:nvPr>
        </p:nvGraphicFramePr>
        <p:xfrm>
          <a:off x="334010" y="1137920"/>
          <a:ext cx="11523345" cy="55632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34665"/>
                <a:gridCol w="4185285"/>
                <a:gridCol w="4303395"/>
              </a:tblGrid>
              <a:tr h="59499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200"/>
                        <a:t>Field / Sector</a:t>
                      </a:r>
                      <a:endParaRPr lang="en-US" sz="3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200">
                          <a:sym typeface="+mn-ea"/>
                        </a:rPr>
                        <a:t>How MCP Is Used</a:t>
                      </a:r>
                      <a:endParaRPr lang="en-US" sz="3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200">
                          <a:sym typeface="+mn-ea"/>
                        </a:rPr>
                        <a:t>Example Use Cases</a:t>
                      </a:r>
                      <a:endParaRPr lang="en-US" sz="3200">
                        <a:sym typeface="+mn-ea"/>
                      </a:endParaRPr>
                    </a:p>
                  </a:txBody>
                  <a:tcPr/>
                </a:tc>
              </a:tr>
              <a:tr h="68516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200">
                          <a:solidFill>
                            <a:srgbClr val="002060"/>
                          </a:solidFill>
                        </a:rPr>
                        <a:t>Software Development</a:t>
                      </a:r>
                      <a:endParaRPr lang="en-US" sz="320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200">
                          <a:solidFill>
                            <a:srgbClr val="002060"/>
                          </a:solidFill>
                        </a:rPr>
                        <a:t>AI coding assistants with access to local codebases and build systems</a:t>
                      </a:r>
                      <a:endParaRPr lang="en-US" sz="320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200">
                          <a:solidFill>
                            <a:srgbClr val="002060"/>
                          </a:solidFill>
                        </a:rPr>
                        <a:t>- MCP-Git or MCP-Filesystem servers let models browse, refactor, or explain code</a:t>
                      </a:r>
                      <a:endParaRPr lang="en-US" sz="3200">
                        <a:solidFill>
                          <a:srgbClr val="002060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en-US" sz="3200">
                          <a:solidFill>
                            <a:srgbClr val="002060"/>
                          </a:solidFill>
                        </a:rPr>
                        <a:t>- Continuous integration analysis via MCP pipelines</a:t>
                      </a:r>
                      <a:endParaRPr lang="en-US" sz="320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15" y="258445"/>
            <a:ext cx="11537315" cy="879475"/>
          </a:xfrm>
        </p:spPr>
        <p:txBody>
          <a:bodyPr/>
          <a:p>
            <a:pPr algn="ctr"/>
            <a:r>
              <a:rPr lang="en-US" sz="4000">
                <a:solidFill>
                  <a:srgbClr val="FF0000"/>
                </a:solidFill>
                <a:sym typeface="+mn-ea"/>
              </a:rPr>
              <a:t>Fields Where MCP Is Being Used (or Explored)</a:t>
            </a:r>
            <a:endParaRPr lang="en-US" sz="4000">
              <a:solidFill>
                <a:srgbClr val="FF0000"/>
              </a:solidFill>
              <a:sym typeface="+mn-ea"/>
            </a:endParaRPr>
          </a:p>
        </p:txBody>
      </p:sp>
      <p:graphicFrame>
        <p:nvGraphicFramePr>
          <p:cNvPr id="5" name="Content Placeholder 4"/>
          <p:cNvGraphicFramePr/>
          <p:nvPr>
            <p:ph idx="1"/>
          </p:nvPr>
        </p:nvGraphicFramePr>
        <p:xfrm>
          <a:off x="334010" y="1137920"/>
          <a:ext cx="11523345" cy="55632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34665"/>
                <a:gridCol w="4185285"/>
                <a:gridCol w="4303395"/>
              </a:tblGrid>
              <a:tr h="59499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200"/>
                        <a:t>Field / Sector</a:t>
                      </a:r>
                      <a:endParaRPr lang="en-US" sz="3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200">
                          <a:sym typeface="+mn-ea"/>
                        </a:rPr>
                        <a:t>How MCP Is Used</a:t>
                      </a:r>
                      <a:endParaRPr lang="en-US" sz="3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200">
                          <a:sym typeface="+mn-ea"/>
                        </a:rPr>
                        <a:t>Example Use Cases</a:t>
                      </a:r>
                      <a:endParaRPr lang="en-US" sz="3200">
                        <a:sym typeface="+mn-ea"/>
                      </a:endParaRPr>
                    </a:p>
                  </a:txBody>
                  <a:tcPr/>
                </a:tc>
              </a:tr>
              <a:tr h="68516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200">
                          <a:solidFill>
                            <a:srgbClr val="002060"/>
                          </a:solidFill>
                        </a:rPr>
                        <a:t>Data Science &amp; Analytics</a:t>
                      </a:r>
                      <a:endParaRPr lang="en-US" sz="320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200">
                          <a:solidFill>
                            <a:srgbClr val="002060"/>
                          </a:solidFill>
                        </a:rPr>
                        <a:t>Local compute and visualization integration</a:t>
                      </a:r>
                      <a:endParaRPr lang="en-US" sz="320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200">
                          <a:solidFill>
                            <a:srgbClr val="002060"/>
                          </a:solidFill>
                        </a:rPr>
                        <a:t>- Connect LLMs to Python or R environments via MCP-Python</a:t>
                      </a:r>
                      <a:endParaRPr lang="en-US" sz="3200">
                        <a:solidFill>
                          <a:srgbClr val="002060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en-US" sz="3200">
                          <a:solidFill>
                            <a:srgbClr val="002060"/>
                          </a:solidFill>
                        </a:rPr>
                        <a:t>- Execute analysis scripts and visualize results interactively</a:t>
                      </a:r>
                      <a:endParaRPr lang="en-US" sz="320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15" y="258445"/>
            <a:ext cx="11537315" cy="879475"/>
          </a:xfrm>
        </p:spPr>
        <p:txBody>
          <a:bodyPr/>
          <a:p>
            <a:pPr algn="ctr"/>
            <a:r>
              <a:rPr lang="en-US" sz="4000">
                <a:solidFill>
                  <a:srgbClr val="FF0000"/>
                </a:solidFill>
                <a:sym typeface="+mn-ea"/>
              </a:rPr>
              <a:t>Fields Where MCP Is Being Used (or Explored)</a:t>
            </a:r>
            <a:endParaRPr lang="en-US" sz="4000">
              <a:solidFill>
                <a:srgbClr val="FF0000"/>
              </a:solidFill>
              <a:sym typeface="+mn-ea"/>
            </a:endParaRPr>
          </a:p>
        </p:txBody>
      </p:sp>
      <p:graphicFrame>
        <p:nvGraphicFramePr>
          <p:cNvPr id="5" name="Content Placeholder 4"/>
          <p:cNvGraphicFramePr/>
          <p:nvPr>
            <p:ph idx="1"/>
          </p:nvPr>
        </p:nvGraphicFramePr>
        <p:xfrm>
          <a:off x="334010" y="1137920"/>
          <a:ext cx="11523345" cy="55632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34665"/>
                <a:gridCol w="4185285"/>
                <a:gridCol w="4303395"/>
              </a:tblGrid>
              <a:tr h="59499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200"/>
                        <a:t>Field / Sector</a:t>
                      </a:r>
                      <a:endParaRPr lang="en-US" sz="3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200">
                          <a:sym typeface="+mn-ea"/>
                        </a:rPr>
                        <a:t>How MCP Is Used</a:t>
                      </a:r>
                      <a:endParaRPr lang="en-US" sz="3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200">
                          <a:sym typeface="+mn-ea"/>
                        </a:rPr>
                        <a:t>Example Use Cases</a:t>
                      </a:r>
                      <a:endParaRPr lang="en-US" sz="3200">
                        <a:sym typeface="+mn-ea"/>
                      </a:endParaRPr>
                    </a:p>
                  </a:txBody>
                  <a:tcPr/>
                </a:tc>
              </a:tr>
              <a:tr h="68516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200">
                          <a:solidFill>
                            <a:srgbClr val="002060"/>
                          </a:solidFill>
                        </a:rPr>
                        <a:t>Finance &amp; Banking</a:t>
                      </a:r>
                      <a:endParaRPr lang="en-US" sz="320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200">
                          <a:solidFill>
                            <a:srgbClr val="002060"/>
                          </a:solidFill>
                        </a:rPr>
                        <a:t>Secure analysis of sensitive financial datasets</a:t>
                      </a:r>
                      <a:endParaRPr lang="en-US" sz="320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200">
                          <a:solidFill>
                            <a:srgbClr val="002060"/>
                          </a:solidFill>
                        </a:rPr>
                        <a:t>- Connect to on-premise SQL servers for auditing or anomaly detection</a:t>
                      </a:r>
                      <a:endParaRPr lang="en-US" sz="3200">
                        <a:solidFill>
                          <a:srgbClr val="002060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en-US" sz="3200">
                          <a:solidFill>
                            <a:srgbClr val="002060"/>
                          </a:solidFill>
                        </a:rPr>
                        <a:t>- MCP ensures auditable model interactions — critical for compliance</a:t>
                      </a:r>
                      <a:endParaRPr lang="en-US" sz="320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15" y="258445"/>
            <a:ext cx="11537315" cy="879475"/>
          </a:xfrm>
        </p:spPr>
        <p:txBody>
          <a:bodyPr/>
          <a:p>
            <a:pPr algn="ctr"/>
            <a:r>
              <a:rPr lang="en-US" sz="4000">
                <a:solidFill>
                  <a:srgbClr val="FF0000"/>
                </a:solidFill>
                <a:sym typeface="+mn-ea"/>
              </a:rPr>
              <a:t>Fields Where MCP Is Being Used (or Explored)</a:t>
            </a:r>
            <a:endParaRPr lang="en-US" sz="4000">
              <a:solidFill>
                <a:srgbClr val="FF0000"/>
              </a:solidFill>
              <a:sym typeface="+mn-ea"/>
            </a:endParaRPr>
          </a:p>
        </p:txBody>
      </p:sp>
      <p:graphicFrame>
        <p:nvGraphicFramePr>
          <p:cNvPr id="5" name="Content Placeholder 4"/>
          <p:cNvGraphicFramePr/>
          <p:nvPr>
            <p:ph idx="1"/>
          </p:nvPr>
        </p:nvGraphicFramePr>
        <p:xfrm>
          <a:off x="334010" y="1137920"/>
          <a:ext cx="11523345" cy="55632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34665"/>
                <a:gridCol w="4185285"/>
                <a:gridCol w="4303395"/>
              </a:tblGrid>
              <a:tr h="59499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200"/>
                        <a:t>Field / Sector</a:t>
                      </a:r>
                      <a:endParaRPr lang="en-US" sz="3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200">
                          <a:sym typeface="+mn-ea"/>
                        </a:rPr>
                        <a:t>How MCP Is Used</a:t>
                      </a:r>
                      <a:endParaRPr lang="en-US" sz="3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200">
                          <a:sym typeface="+mn-ea"/>
                        </a:rPr>
                        <a:t>Example Use Cases</a:t>
                      </a:r>
                      <a:endParaRPr lang="en-US" sz="3200">
                        <a:sym typeface="+mn-ea"/>
                      </a:endParaRPr>
                    </a:p>
                  </a:txBody>
                  <a:tcPr/>
                </a:tc>
              </a:tr>
              <a:tr h="68516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200">
                          <a:solidFill>
                            <a:srgbClr val="002060"/>
                          </a:solidFill>
                        </a:rPr>
                        <a:t>Manufacturing &amp; Industrial Automation</a:t>
                      </a:r>
                      <a:endParaRPr lang="en-US" sz="320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200">
                          <a:solidFill>
                            <a:srgbClr val="002060"/>
                          </a:solidFill>
                        </a:rPr>
                        <a:t>Real-time insights from IoT and process control systems</a:t>
                      </a:r>
                      <a:endParaRPr lang="en-US" sz="320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200">
                          <a:solidFill>
                            <a:srgbClr val="002060"/>
                          </a:solidFill>
                        </a:rPr>
                        <a:t>- Agents use MCP to pull live data from production databases</a:t>
                      </a:r>
                      <a:endParaRPr lang="en-US" sz="3200">
                        <a:solidFill>
                          <a:srgbClr val="002060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en-US" sz="3200">
                          <a:solidFill>
                            <a:srgbClr val="002060"/>
                          </a:solidFill>
                        </a:rPr>
                        <a:t>- Generate performance reports, detect faults, suggest optimizations</a:t>
                      </a:r>
                      <a:endParaRPr lang="en-US" sz="320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15" y="258445"/>
            <a:ext cx="11537315" cy="879475"/>
          </a:xfrm>
        </p:spPr>
        <p:txBody>
          <a:bodyPr/>
          <a:p>
            <a:pPr algn="ctr"/>
            <a:r>
              <a:rPr lang="en-US" sz="4000">
                <a:solidFill>
                  <a:srgbClr val="FF0000"/>
                </a:solidFill>
                <a:sym typeface="+mn-ea"/>
              </a:rPr>
              <a:t>Fields Where MCP Is Being Used (or Explored)</a:t>
            </a:r>
            <a:endParaRPr lang="en-US" sz="4000">
              <a:solidFill>
                <a:srgbClr val="FF0000"/>
              </a:solidFill>
              <a:sym typeface="+mn-ea"/>
            </a:endParaRPr>
          </a:p>
        </p:txBody>
      </p:sp>
      <p:graphicFrame>
        <p:nvGraphicFramePr>
          <p:cNvPr id="5" name="Content Placeholder 4"/>
          <p:cNvGraphicFramePr/>
          <p:nvPr>
            <p:ph idx="1"/>
          </p:nvPr>
        </p:nvGraphicFramePr>
        <p:xfrm>
          <a:off x="334010" y="1137920"/>
          <a:ext cx="11523345" cy="55632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34665"/>
                <a:gridCol w="4185285"/>
                <a:gridCol w="4303395"/>
              </a:tblGrid>
              <a:tr h="59499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200"/>
                        <a:t>Field / Sector</a:t>
                      </a:r>
                      <a:endParaRPr lang="en-US" sz="3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200">
                          <a:sym typeface="+mn-ea"/>
                        </a:rPr>
                        <a:t>How MCP Is Used</a:t>
                      </a:r>
                      <a:endParaRPr lang="en-US" sz="3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200">
                          <a:sym typeface="+mn-ea"/>
                        </a:rPr>
                        <a:t>Example Use Cases</a:t>
                      </a:r>
                      <a:endParaRPr lang="en-US" sz="3200">
                        <a:sym typeface="+mn-ea"/>
                      </a:endParaRPr>
                    </a:p>
                  </a:txBody>
                  <a:tcPr/>
                </a:tc>
              </a:tr>
              <a:tr h="68516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200">
                          <a:solidFill>
                            <a:srgbClr val="002060"/>
                          </a:solidFill>
                        </a:rPr>
                        <a:t>Legal &amp; Compliance</a:t>
                      </a:r>
                      <a:endParaRPr lang="en-US" sz="320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200">
                          <a:solidFill>
                            <a:srgbClr val="002060"/>
                          </a:solidFill>
                        </a:rPr>
                        <a:t>Controlled document analysis and retrieval</a:t>
                      </a:r>
                      <a:endParaRPr lang="en-US" sz="320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200">
                          <a:solidFill>
                            <a:srgbClr val="002060"/>
                          </a:solidFill>
                        </a:rPr>
                        <a:t>- MCP servers manage access to legal repositories or case databases</a:t>
                      </a:r>
                      <a:endParaRPr lang="en-US" sz="3200">
                        <a:solidFill>
                          <a:srgbClr val="002060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en-US" sz="3200">
                          <a:solidFill>
                            <a:srgbClr val="002060"/>
                          </a:solidFill>
                        </a:rPr>
                        <a:t>- Enables contract review or case summarization under strict governance</a:t>
                      </a:r>
                      <a:endParaRPr lang="en-US" sz="320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15" y="258445"/>
            <a:ext cx="11537315" cy="879475"/>
          </a:xfrm>
        </p:spPr>
        <p:txBody>
          <a:bodyPr/>
          <a:p>
            <a:pPr algn="ctr"/>
            <a:r>
              <a:rPr lang="en-US" sz="4000">
                <a:solidFill>
                  <a:srgbClr val="FF0000"/>
                </a:solidFill>
                <a:sym typeface="+mn-ea"/>
              </a:rPr>
              <a:t>Fields Where MCP Is Being Used (or Explored)</a:t>
            </a:r>
            <a:endParaRPr lang="en-US" sz="4000">
              <a:solidFill>
                <a:srgbClr val="FF0000"/>
              </a:solidFill>
              <a:sym typeface="+mn-ea"/>
            </a:endParaRPr>
          </a:p>
        </p:txBody>
      </p:sp>
      <p:graphicFrame>
        <p:nvGraphicFramePr>
          <p:cNvPr id="5" name="Content Placeholder 4"/>
          <p:cNvGraphicFramePr/>
          <p:nvPr>
            <p:ph idx="1"/>
          </p:nvPr>
        </p:nvGraphicFramePr>
        <p:xfrm>
          <a:off x="334010" y="1137920"/>
          <a:ext cx="11523345" cy="55632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34665"/>
                <a:gridCol w="4185285"/>
                <a:gridCol w="4303395"/>
              </a:tblGrid>
              <a:tr h="59499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200"/>
                        <a:t>Field / Sector</a:t>
                      </a:r>
                      <a:endParaRPr lang="en-US" sz="3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200">
                          <a:sym typeface="+mn-ea"/>
                        </a:rPr>
                        <a:t>How MCP Is Used</a:t>
                      </a:r>
                      <a:endParaRPr lang="en-US" sz="3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200">
                          <a:sym typeface="+mn-ea"/>
                        </a:rPr>
                        <a:t>Example Use Cases</a:t>
                      </a:r>
                      <a:endParaRPr lang="en-US" sz="3200">
                        <a:sym typeface="+mn-ea"/>
                      </a:endParaRPr>
                    </a:p>
                  </a:txBody>
                  <a:tcPr/>
                </a:tc>
              </a:tr>
              <a:tr h="68516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200">
                          <a:solidFill>
                            <a:srgbClr val="002060"/>
                          </a:solidFill>
                        </a:rPr>
                        <a:t>Media &amp; Publishing</a:t>
                      </a:r>
                      <a:endParaRPr lang="en-US" sz="320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200">
                          <a:solidFill>
                            <a:srgbClr val="002060"/>
                          </a:solidFill>
                        </a:rPr>
                        <a:t>Automated content creation with structured source access</a:t>
                      </a:r>
                      <a:endParaRPr lang="en-US" sz="320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200">
                          <a:solidFill>
                            <a:srgbClr val="002060"/>
                          </a:solidFill>
                        </a:rPr>
                        <a:t>- MCP connectors to content management systems</a:t>
                      </a:r>
                      <a:endParaRPr lang="en-US" sz="3200">
                        <a:solidFill>
                          <a:srgbClr val="002060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en-US" sz="3200">
                          <a:solidFill>
                            <a:srgbClr val="002060"/>
                          </a:solidFill>
                        </a:rPr>
                        <a:t>- Maintain editorial control and traceable content sourcing</a:t>
                      </a:r>
                      <a:endParaRPr lang="en-US" sz="320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15" y="258445"/>
            <a:ext cx="11537315" cy="879475"/>
          </a:xfrm>
        </p:spPr>
        <p:txBody>
          <a:bodyPr/>
          <a:p>
            <a:pPr algn="ctr"/>
            <a:r>
              <a:rPr lang="en-US" sz="4000">
                <a:solidFill>
                  <a:srgbClr val="FF0000"/>
                </a:solidFill>
                <a:sym typeface="+mn-ea"/>
              </a:rPr>
              <a:t>Fields Where MCP Is Being Used (or Explored)</a:t>
            </a:r>
            <a:endParaRPr lang="en-US" sz="4000">
              <a:solidFill>
                <a:srgbClr val="FF0000"/>
              </a:solidFill>
              <a:sym typeface="+mn-ea"/>
            </a:endParaRPr>
          </a:p>
        </p:txBody>
      </p:sp>
      <p:graphicFrame>
        <p:nvGraphicFramePr>
          <p:cNvPr id="5" name="Content Placeholder 4"/>
          <p:cNvGraphicFramePr/>
          <p:nvPr>
            <p:ph idx="1"/>
          </p:nvPr>
        </p:nvGraphicFramePr>
        <p:xfrm>
          <a:off x="334010" y="1137920"/>
          <a:ext cx="11523345" cy="55632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34665"/>
                <a:gridCol w="4185285"/>
                <a:gridCol w="4303395"/>
              </a:tblGrid>
              <a:tr h="59499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200"/>
                        <a:t>Field / Sector</a:t>
                      </a:r>
                      <a:endParaRPr lang="en-US" sz="3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200">
                          <a:sym typeface="+mn-ea"/>
                        </a:rPr>
                        <a:t>How MCP Is Used</a:t>
                      </a:r>
                      <a:endParaRPr lang="en-US" sz="3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200">
                          <a:sym typeface="+mn-ea"/>
                        </a:rPr>
                        <a:t>Example Use Cases</a:t>
                      </a:r>
                      <a:endParaRPr lang="en-US" sz="3200">
                        <a:sym typeface="+mn-ea"/>
                      </a:endParaRPr>
                    </a:p>
                  </a:txBody>
                  <a:tcPr/>
                </a:tc>
              </a:tr>
              <a:tr h="68516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200">
                          <a:solidFill>
                            <a:srgbClr val="002060"/>
                          </a:solidFill>
                        </a:rPr>
                        <a:t>Retail &amp; E-commerce</a:t>
                      </a:r>
                      <a:endParaRPr lang="en-US" sz="320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200">
                          <a:solidFill>
                            <a:srgbClr val="002060"/>
                          </a:solidFill>
                        </a:rPr>
                        <a:t>AI-powered operations and analytics</a:t>
                      </a:r>
                      <a:endParaRPr lang="en-US" sz="320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200">
                          <a:solidFill>
                            <a:srgbClr val="002060"/>
                          </a:solidFill>
                        </a:rPr>
                        <a:t>- MCP links to inventory or customer data systems</a:t>
                      </a:r>
                      <a:endParaRPr lang="en-US" sz="3200">
                        <a:solidFill>
                          <a:srgbClr val="002060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en-US" sz="3200">
                          <a:solidFill>
                            <a:srgbClr val="002060"/>
                          </a:solidFill>
                        </a:rPr>
                        <a:t>- Enables sales forecasting or personalized marketing while respecting privacy</a:t>
                      </a:r>
                      <a:endParaRPr lang="en-US" sz="320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15" y="258445"/>
            <a:ext cx="11537315" cy="879475"/>
          </a:xfrm>
        </p:spPr>
        <p:txBody>
          <a:bodyPr/>
          <a:p>
            <a:pPr algn="ctr"/>
            <a:r>
              <a:rPr lang="en-US" sz="4000">
                <a:solidFill>
                  <a:srgbClr val="FF0000"/>
                </a:solidFill>
                <a:sym typeface="+mn-ea"/>
              </a:rPr>
              <a:t>Fields Where MCP Is Being Used (or Explored)</a:t>
            </a:r>
            <a:endParaRPr lang="en-US" sz="4000">
              <a:solidFill>
                <a:srgbClr val="FF0000"/>
              </a:solidFill>
              <a:sym typeface="+mn-ea"/>
            </a:endParaRPr>
          </a:p>
        </p:txBody>
      </p:sp>
      <p:graphicFrame>
        <p:nvGraphicFramePr>
          <p:cNvPr id="5" name="Content Placeholder 4"/>
          <p:cNvGraphicFramePr/>
          <p:nvPr>
            <p:ph idx="1"/>
          </p:nvPr>
        </p:nvGraphicFramePr>
        <p:xfrm>
          <a:off x="334010" y="1137920"/>
          <a:ext cx="11523345" cy="55632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34665"/>
                <a:gridCol w="4185285"/>
                <a:gridCol w="4303395"/>
              </a:tblGrid>
              <a:tr h="59499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200"/>
                        <a:t>Field / Sector</a:t>
                      </a:r>
                      <a:endParaRPr lang="en-US" sz="3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200">
                          <a:sym typeface="+mn-ea"/>
                        </a:rPr>
                        <a:t>How MCP Is Used</a:t>
                      </a:r>
                      <a:endParaRPr lang="en-US" sz="3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200">
                          <a:sym typeface="+mn-ea"/>
                        </a:rPr>
                        <a:t>Example Use Cases</a:t>
                      </a:r>
                      <a:endParaRPr lang="en-US" sz="3200">
                        <a:sym typeface="+mn-ea"/>
                      </a:endParaRPr>
                    </a:p>
                  </a:txBody>
                  <a:tcPr/>
                </a:tc>
              </a:tr>
              <a:tr h="68516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200">
                          <a:solidFill>
                            <a:srgbClr val="002060"/>
                          </a:solidFill>
                        </a:rPr>
                        <a:t>Scientific Research</a:t>
                      </a:r>
                      <a:endParaRPr lang="en-US" sz="320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200">
                          <a:solidFill>
                            <a:srgbClr val="002060"/>
                          </a:solidFill>
                        </a:rPr>
                        <a:t>Reproducible AI experiments and data linking</a:t>
                      </a:r>
                      <a:endParaRPr lang="en-US" sz="320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200">
                          <a:solidFill>
                            <a:srgbClr val="002060"/>
                          </a:solidFill>
                        </a:rPr>
                        <a:t>- Use MCP to connect LLMs to experimental datasets, simulation tools, or papers</a:t>
                      </a:r>
                      <a:endParaRPr lang="en-US" sz="3200">
                        <a:solidFill>
                          <a:srgbClr val="002060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en-US" sz="3200">
                          <a:solidFill>
                            <a:srgbClr val="002060"/>
                          </a:solidFill>
                        </a:rPr>
                        <a:t>- Ensure reproducibility by keeping all data interactions logged</a:t>
                      </a:r>
                      <a:endParaRPr lang="en-US" sz="320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15" y="258445"/>
            <a:ext cx="11537315" cy="879475"/>
          </a:xfrm>
        </p:spPr>
        <p:txBody>
          <a:bodyPr/>
          <a:p>
            <a:pPr algn="ctr"/>
            <a:r>
              <a:rPr lang="en-US" sz="4000">
                <a:solidFill>
                  <a:srgbClr val="FF0000"/>
                </a:solidFill>
                <a:sym typeface="+mn-ea"/>
              </a:rPr>
              <a:t>Fields Where MCP Is Being Used (or Explored)</a:t>
            </a:r>
            <a:endParaRPr lang="en-US" sz="4000">
              <a:solidFill>
                <a:srgbClr val="FF0000"/>
              </a:solidFill>
              <a:sym typeface="+mn-ea"/>
            </a:endParaRPr>
          </a:p>
        </p:txBody>
      </p:sp>
      <p:graphicFrame>
        <p:nvGraphicFramePr>
          <p:cNvPr id="5" name="Content Placeholder 4"/>
          <p:cNvGraphicFramePr/>
          <p:nvPr>
            <p:ph idx="1"/>
          </p:nvPr>
        </p:nvGraphicFramePr>
        <p:xfrm>
          <a:off x="334010" y="1137920"/>
          <a:ext cx="11523345" cy="55632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34665"/>
                <a:gridCol w="4185285"/>
                <a:gridCol w="4303395"/>
              </a:tblGrid>
              <a:tr h="59499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200"/>
                        <a:t>Field / Sector</a:t>
                      </a:r>
                      <a:endParaRPr lang="en-US" sz="3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200">
                          <a:sym typeface="+mn-ea"/>
                        </a:rPr>
                        <a:t>How MCP Is Used</a:t>
                      </a:r>
                      <a:endParaRPr lang="en-US" sz="32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200">
                          <a:sym typeface="+mn-ea"/>
                        </a:rPr>
                        <a:t>Example Use Cases</a:t>
                      </a:r>
                      <a:endParaRPr lang="en-US" sz="3200">
                        <a:sym typeface="+mn-ea"/>
                      </a:endParaRPr>
                    </a:p>
                  </a:txBody>
                  <a:tcPr/>
                </a:tc>
              </a:tr>
              <a:tr h="68516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200">
                          <a:solidFill>
                            <a:srgbClr val="002060"/>
                          </a:solidFill>
                        </a:rPr>
                        <a:t>Government &amp; Defense (Exploratory)</a:t>
                      </a:r>
                      <a:endParaRPr lang="en-US" sz="320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200">
                          <a:solidFill>
                            <a:srgbClr val="002060"/>
                          </a:solidFill>
                        </a:rPr>
                        <a:t>Secure, auditable agent interactions</a:t>
                      </a:r>
                      <a:endParaRPr lang="en-US" sz="320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200">
                          <a:solidFill>
                            <a:srgbClr val="002060"/>
                          </a:solidFill>
                        </a:rPr>
                        <a:t>- MCP provides transparency, vital for compliance-heavy public sectors</a:t>
                      </a:r>
                      <a:endParaRPr lang="en-US" sz="320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15" y="258445"/>
            <a:ext cx="11537315" cy="879475"/>
          </a:xfrm>
        </p:spPr>
        <p:txBody>
          <a:bodyPr/>
          <a:p>
            <a:pPr algn="ctr"/>
            <a:r>
              <a:rPr lang="en-US" sz="4000">
                <a:solidFill>
                  <a:srgbClr val="FF0000"/>
                </a:solidFill>
              </a:rPr>
              <a:t>Why Students &amp; Academicians Should Learn MCP</a:t>
            </a:r>
            <a:endParaRPr lang="en-US" sz="400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" y="1137920"/>
            <a:ext cx="12190730" cy="5476240"/>
          </a:xfrm>
        </p:spPr>
        <p:txBody>
          <a:bodyPr>
            <a:noAutofit/>
          </a:bodyPr>
          <a:p>
            <a:pPr marL="0" indent="0" algn="just">
              <a:lnSpc>
                <a:spcPct val="130000"/>
              </a:lnSpc>
              <a:buNone/>
            </a:pPr>
            <a:r>
              <a:rPr lang="en-US" sz="3600" b="1">
                <a:solidFill>
                  <a:schemeClr val="accent6">
                    <a:lumMod val="75000"/>
                  </a:schemeClr>
                </a:solidFill>
              </a:rPr>
              <a:t>Future-Proof Your Research &amp; Career </a:t>
            </a:r>
            <a:endParaRPr lang="en-US" sz="3600" b="1">
              <a:solidFill>
                <a:schemeClr val="accent6">
                  <a:lumMod val="75000"/>
                </a:schemeClr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sz="3600">
                <a:solidFill>
                  <a:srgbClr val="002060"/>
                </a:solidFill>
              </a:rPr>
              <a:t>The AI Landscape is Fragmenting</a:t>
            </a:r>
            <a:endParaRPr lang="en-US" sz="3600">
              <a:solidFill>
                <a:srgbClr val="002060"/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sz="3600">
                <a:solidFill>
                  <a:srgbClr val="002060"/>
                </a:solidFill>
              </a:rPr>
              <a:t>Today: Claude, GPT-4, LLaMA, Gemini, Mistral, etc.</a:t>
            </a:r>
            <a:endParaRPr lang="en-US" sz="3600">
              <a:solidFill>
                <a:srgbClr val="002060"/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sz="3600">
                <a:solidFill>
                  <a:srgbClr val="002060"/>
                </a:solidFill>
              </a:rPr>
              <a:t>Tomorrow: Hundreds more specialized models</a:t>
            </a:r>
            <a:endParaRPr lang="en-US" sz="3600">
              <a:solidFill>
                <a:srgbClr val="002060"/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sz="3600">
                <a:solidFill>
                  <a:srgbClr val="002060"/>
                </a:solidFill>
              </a:rPr>
              <a:t>Problem: Each has different APIs, formats, quirks</a:t>
            </a:r>
            <a:endParaRPr lang="en-US" sz="3600">
              <a:solidFill>
                <a:srgbClr val="002060"/>
              </a:solidFill>
            </a:endParaRPr>
          </a:p>
          <a:p>
            <a:pPr algn="just">
              <a:lnSpc>
                <a:spcPct val="130000"/>
              </a:lnSpc>
            </a:pPr>
            <a:endParaRPr lang="en-US" sz="360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15" y="258445"/>
            <a:ext cx="11537315" cy="879475"/>
          </a:xfrm>
        </p:spPr>
        <p:txBody>
          <a:bodyPr/>
          <a:p>
            <a:pPr algn="ctr"/>
            <a:r>
              <a:rPr lang="en-US" sz="4000">
                <a:solidFill>
                  <a:srgbClr val="FF0000"/>
                </a:solidFill>
              </a:rPr>
              <a:t>Why Students &amp; Academicians Should Learn MCP</a:t>
            </a:r>
            <a:endParaRPr lang="en-US" sz="400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" y="1137920"/>
            <a:ext cx="12190730" cy="5476240"/>
          </a:xfrm>
        </p:spPr>
        <p:txBody>
          <a:bodyPr>
            <a:noAutofit/>
          </a:bodyPr>
          <a:p>
            <a:pPr marL="0" indent="0" algn="just">
              <a:lnSpc>
                <a:spcPct val="130000"/>
              </a:lnSpc>
              <a:buNone/>
            </a:pPr>
            <a:r>
              <a:rPr lang="en-US" sz="3600" b="1">
                <a:solidFill>
                  <a:schemeClr val="accent6">
                    <a:lumMod val="75000"/>
                  </a:schemeClr>
                </a:solidFill>
              </a:rPr>
              <a:t>MCP = Universal Standard</a:t>
            </a:r>
            <a:endParaRPr lang="en-US" sz="3600" b="1">
              <a:solidFill>
                <a:schemeClr val="accent6">
                  <a:lumMod val="75000"/>
                </a:schemeClr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sz="3600">
                <a:solidFill>
                  <a:srgbClr val="002060"/>
                </a:solidFill>
              </a:rPr>
              <a:t>Like how USB-C replaced dozens of charging cables</a:t>
            </a:r>
            <a:endParaRPr lang="en-US" sz="3600">
              <a:solidFill>
                <a:srgbClr val="002060"/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sz="3600">
                <a:solidFill>
                  <a:srgbClr val="002060"/>
                </a:solidFill>
              </a:rPr>
              <a:t>Write tool integration code once, use with any model</a:t>
            </a:r>
            <a:endParaRPr lang="en-US" sz="3600">
              <a:solidFill>
                <a:srgbClr val="002060"/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sz="3600">
                <a:solidFill>
                  <a:srgbClr val="002060"/>
                </a:solidFill>
              </a:rPr>
              <a:t>Your research code won't become obsolete when new models emerge</a:t>
            </a:r>
            <a:endParaRPr lang="en-US" sz="360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15" y="258445"/>
            <a:ext cx="11537315" cy="879475"/>
          </a:xfrm>
        </p:spPr>
        <p:txBody>
          <a:bodyPr/>
          <a:p>
            <a:pPr algn="ctr"/>
            <a:r>
              <a:rPr lang="en-US" sz="4000">
                <a:solidFill>
                  <a:srgbClr val="FF0000"/>
                </a:solidFill>
              </a:rPr>
              <a:t>Why Students &amp; Academicians Should Learn MCP</a:t>
            </a:r>
            <a:endParaRPr lang="en-US" sz="400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" y="1137920"/>
            <a:ext cx="12190730" cy="5476240"/>
          </a:xfrm>
        </p:spPr>
        <p:txBody>
          <a:bodyPr>
            <a:noAutofit/>
          </a:bodyPr>
          <a:p>
            <a:pPr marL="0" indent="0" algn="just">
              <a:lnSpc>
                <a:spcPct val="130000"/>
              </a:lnSpc>
              <a:buNone/>
            </a:pPr>
            <a:r>
              <a:rPr lang="en-US" sz="3600" b="1">
                <a:solidFill>
                  <a:schemeClr val="accent6">
                    <a:lumMod val="75000"/>
                  </a:schemeClr>
                </a:solidFill>
              </a:rPr>
              <a:t>Career Relevance</a:t>
            </a:r>
            <a:endParaRPr lang="en-US" sz="3600" b="1">
              <a:solidFill>
                <a:schemeClr val="accent6">
                  <a:lumMod val="75000"/>
                </a:schemeClr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sz="3600">
                <a:solidFill>
                  <a:srgbClr val="002060"/>
                </a:solidFill>
              </a:rPr>
              <a:t>Traditional Approach: Learn Claude API → GPT API → LLaMA API → ...</a:t>
            </a:r>
            <a:endParaRPr lang="en-US" sz="3600">
              <a:solidFill>
                <a:srgbClr val="002060"/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sz="3600">
                <a:solidFill>
                  <a:srgbClr val="002060"/>
                </a:solidFill>
              </a:rPr>
              <a:t>MCP Approach: Learn MCP once → Work with ALL models</a:t>
            </a:r>
            <a:endParaRPr lang="en-US" sz="360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15" y="258445"/>
            <a:ext cx="11537315" cy="879475"/>
          </a:xfrm>
        </p:spPr>
        <p:txBody>
          <a:bodyPr/>
          <a:p>
            <a:pPr algn="ctr"/>
            <a:r>
              <a:rPr lang="en-US" sz="4000">
                <a:solidFill>
                  <a:srgbClr val="FF0000"/>
                </a:solidFill>
              </a:rPr>
              <a:t>Why Students &amp; Academicians Should Learn MCP</a:t>
            </a:r>
            <a:endParaRPr lang="en-US" sz="400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" y="1137920"/>
            <a:ext cx="12190730" cy="5476240"/>
          </a:xfrm>
        </p:spPr>
        <p:txBody>
          <a:bodyPr>
            <a:noAutofit/>
          </a:bodyPr>
          <a:p>
            <a:pPr marL="0" indent="0" algn="just">
              <a:lnSpc>
                <a:spcPct val="130000"/>
              </a:lnSpc>
              <a:buNone/>
            </a:pPr>
            <a:r>
              <a:rPr lang="en-US" sz="3600" b="1">
                <a:solidFill>
                  <a:schemeClr val="accent6">
                    <a:lumMod val="75000"/>
                  </a:schemeClr>
                </a:solidFill>
              </a:rPr>
              <a:t>Accelerate Academic Research</a:t>
            </a:r>
            <a:endParaRPr lang="en-US" sz="3600" b="1">
              <a:solidFill>
                <a:schemeClr val="accent6">
                  <a:lumMod val="75000"/>
                </a:schemeClr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sz="3600">
                <a:solidFill>
                  <a:srgbClr val="002060"/>
                </a:solidFill>
              </a:rPr>
              <a:t>Scenario 1: Comparative Studies</a:t>
            </a:r>
            <a:endParaRPr lang="en-US" sz="3600">
              <a:solidFill>
                <a:srgbClr val="002060"/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sz="3600">
                <a:solidFill>
                  <a:srgbClr val="002060"/>
                </a:solidFill>
              </a:rPr>
              <a:t>Research Question: "Which LLM is best for analyzing medical literature?"</a:t>
            </a:r>
            <a:endParaRPr lang="en-US" sz="3600">
              <a:solidFill>
                <a:srgbClr val="002060"/>
              </a:solidFill>
            </a:endParaRPr>
          </a:p>
          <a:p>
            <a:pPr algn="just">
              <a:lnSpc>
                <a:spcPct val="130000"/>
              </a:lnSpc>
            </a:pPr>
            <a:endParaRPr lang="en-US" sz="360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15" y="258445"/>
            <a:ext cx="11537315" cy="879475"/>
          </a:xfrm>
        </p:spPr>
        <p:txBody>
          <a:bodyPr/>
          <a:p>
            <a:pPr algn="ctr"/>
            <a:r>
              <a:rPr lang="en-US" sz="4000">
                <a:solidFill>
                  <a:srgbClr val="FF0000"/>
                </a:solidFill>
              </a:rPr>
              <a:t>Why Students &amp; Academicians Should Learn MCP</a:t>
            </a:r>
            <a:endParaRPr lang="en-US" sz="400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" y="1137920"/>
            <a:ext cx="12190730" cy="5476240"/>
          </a:xfrm>
        </p:spPr>
        <p:txBody>
          <a:bodyPr>
            <a:noAutofit/>
          </a:bodyPr>
          <a:p>
            <a:pPr marL="0" indent="0" algn="just">
              <a:lnSpc>
                <a:spcPct val="130000"/>
              </a:lnSpc>
              <a:buNone/>
            </a:pPr>
            <a:r>
              <a:rPr lang="en-US" sz="3600" b="1">
                <a:solidFill>
                  <a:schemeClr val="accent6">
                    <a:lumMod val="75000"/>
                  </a:schemeClr>
                </a:solidFill>
              </a:rPr>
              <a:t>Without MCP:</a:t>
            </a:r>
            <a:endParaRPr lang="en-US" sz="3600" b="1">
              <a:solidFill>
                <a:schemeClr val="accent6">
                  <a:lumMod val="75000"/>
                </a:schemeClr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sz="3600">
                <a:solidFill>
                  <a:srgbClr val="002060"/>
                </a:solidFill>
              </a:rPr>
              <a:t>- Write data extraction tools for Claude ⏱️ 2 weeks</a:t>
            </a:r>
            <a:endParaRPr lang="en-US" sz="3600">
              <a:solidFill>
                <a:srgbClr val="002060"/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sz="3600">
                <a:solidFill>
                  <a:srgbClr val="002060"/>
                </a:solidFill>
              </a:rPr>
              <a:t>- Rewrite for GPT-4 ⏱️ 2 weeks  </a:t>
            </a:r>
            <a:endParaRPr lang="en-US" sz="3600">
              <a:solidFill>
                <a:srgbClr val="002060"/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sz="3600">
                <a:solidFill>
                  <a:srgbClr val="002060"/>
                </a:solidFill>
              </a:rPr>
              <a:t>- Rewrite for LLaMA ⏱️ 2 weeks</a:t>
            </a:r>
            <a:endParaRPr lang="en-US" sz="3600">
              <a:solidFill>
                <a:srgbClr val="002060"/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sz="3600">
                <a:solidFill>
                  <a:srgbClr val="002060"/>
                </a:solidFill>
              </a:rPr>
              <a:t>- Total: 6 weeks before actual research starts!</a:t>
            </a:r>
            <a:endParaRPr lang="en-US" sz="360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15" y="258445"/>
            <a:ext cx="11537315" cy="879475"/>
          </a:xfrm>
        </p:spPr>
        <p:txBody>
          <a:bodyPr/>
          <a:p>
            <a:pPr algn="ctr"/>
            <a:r>
              <a:rPr lang="en-US" sz="4000">
                <a:solidFill>
                  <a:srgbClr val="FF0000"/>
                </a:solidFill>
              </a:rPr>
              <a:t>Why Students &amp; Academicians Should Learn MCP</a:t>
            </a:r>
            <a:endParaRPr lang="en-US" sz="400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" y="1137920"/>
            <a:ext cx="12190730" cy="5476240"/>
          </a:xfrm>
        </p:spPr>
        <p:txBody>
          <a:bodyPr>
            <a:noAutofit/>
          </a:bodyPr>
          <a:p>
            <a:pPr marL="0" indent="0" algn="just">
              <a:lnSpc>
                <a:spcPct val="130000"/>
              </a:lnSpc>
              <a:buNone/>
            </a:pPr>
            <a:r>
              <a:rPr lang="en-US" sz="3600" b="1">
                <a:solidFill>
                  <a:schemeClr val="accent6">
                    <a:lumMod val="75000"/>
                  </a:schemeClr>
                </a:solidFill>
              </a:rPr>
              <a:t>With MCP:</a:t>
            </a:r>
            <a:endParaRPr lang="en-US" sz="3600" b="1">
              <a:solidFill>
                <a:schemeClr val="accent6">
                  <a:lumMod val="75000"/>
                </a:schemeClr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sz="3600">
                <a:solidFill>
                  <a:srgbClr val="002060"/>
                </a:solidFill>
              </a:rPr>
              <a:t>With MCP:</a:t>
            </a:r>
            <a:endParaRPr lang="en-US" sz="3600">
              <a:solidFill>
                <a:srgbClr val="002060"/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sz="3600">
                <a:solidFill>
                  <a:srgbClr val="002060"/>
                </a:solidFill>
              </a:rPr>
              <a:t>- Write MCP server once ⏱️ 2 weeks</a:t>
            </a:r>
            <a:endParaRPr lang="en-US" sz="3600">
              <a:solidFill>
                <a:srgbClr val="002060"/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sz="3600">
                <a:solidFill>
                  <a:srgbClr val="002060"/>
                </a:solidFill>
              </a:rPr>
              <a:t>- Test all 3 models ⏱️ 1 day</a:t>
            </a:r>
            <a:endParaRPr lang="en-US" sz="3600">
              <a:solidFill>
                <a:srgbClr val="002060"/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sz="3600">
                <a:solidFill>
                  <a:srgbClr val="002060"/>
                </a:solidFill>
              </a:rPr>
              <a:t>- Total: 2 weeks, start research immediately</a:t>
            </a:r>
            <a:endParaRPr lang="en-US" sz="360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15" y="258445"/>
            <a:ext cx="11537315" cy="879475"/>
          </a:xfrm>
        </p:spPr>
        <p:txBody>
          <a:bodyPr/>
          <a:p>
            <a:pPr algn="ctr"/>
            <a:r>
              <a:rPr lang="en-US" sz="4000">
                <a:solidFill>
                  <a:srgbClr val="FF0000"/>
                </a:solidFill>
                <a:sym typeface="+mn-ea"/>
              </a:rPr>
              <a:t>Academic Use Cases - For Students</a:t>
            </a:r>
            <a:endParaRPr lang="en-US" sz="400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" y="1137920"/>
            <a:ext cx="12190730" cy="5476240"/>
          </a:xfrm>
        </p:spPr>
        <p:txBody>
          <a:bodyPr>
            <a:noAutofit/>
          </a:bodyPr>
          <a:p>
            <a:pPr algn="just">
              <a:lnSpc>
                <a:spcPct val="130000"/>
              </a:lnSpc>
            </a:pPr>
            <a:r>
              <a:rPr lang="en-US" sz="3600">
                <a:solidFill>
                  <a:srgbClr val="002060"/>
                </a:solidFill>
                <a:sym typeface="+mn-ea"/>
              </a:rPr>
              <a:t>Literature Review Automation</a:t>
            </a:r>
            <a:endParaRPr lang="en-US" sz="3600">
              <a:solidFill>
                <a:srgbClr val="002060"/>
              </a:solidFill>
              <a:sym typeface="+mn-ea"/>
            </a:endParaRPr>
          </a:p>
          <a:p>
            <a:pPr algn="just">
              <a:lnSpc>
                <a:spcPct val="130000"/>
              </a:lnSpc>
            </a:pPr>
            <a:r>
              <a:rPr lang="en-US" sz="3600">
                <a:solidFill>
                  <a:srgbClr val="002060"/>
                </a:solidFill>
                <a:sym typeface="+mn-ea"/>
              </a:rPr>
              <a:t>Data Analysis Assistant </a:t>
            </a:r>
            <a:endParaRPr lang="en-US" sz="3600">
              <a:solidFill>
                <a:srgbClr val="002060"/>
              </a:solidFill>
              <a:sym typeface="+mn-ea"/>
            </a:endParaRPr>
          </a:p>
          <a:p>
            <a:pPr algn="just">
              <a:lnSpc>
                <a:spcPct val="130000"/>
              </a:lnSpc>
            </a:pPr>
            <a:r>
              <a:rPr lang="en-US" sz="3600">
                <a:solidFill>
                  <a:srgbClr val="002060"/>
                </a:solidFill>
                <a:sym typeface="+mn-ea"/>
              </a:rPr>
              <a:t>Coding Assignment Helper</a:t>
            </a:r>
            <a:endParaRPr lang="en-US" sz="3600">
              <a:solidFill>
                <a:srgbClr val="002060"/>
              </a:solidFill>
              <a:sym typeface="+mn-ea"/>
            </a:endParaRPr>
          </a:p>
          <a:p>
            <a:pPr algn="just">
              <a:lnSpc>
                <a:spcPct val="130000"/>
              </a:lnSpc>
            </a:pPr>
            <a:endParaRPr lang="en-US" sz="360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070" y="-19685"/>
            <a:ext cx="11537315" cy="879475"/>
          </a:xfrm>
        </p:spPr>
        <p:txBody>
          <a:bodyPr/>
          <a:p>
            <a:pPr algn="ctr"/>
            <a:r>
              <a:rPr lang="en-US" sz="4000">
                <a:solidFill>
                  <a:srgbClr val="FF0000"/>
                </a:solidFill>
                <a:sym typeface="+mn-ea"/>
              </a:rPr>
              <a:t>Academic Use Cases - For </a:t>
            </a:r>
            <a:r>
              <a:rPr lang="en-US" sz="4000">
                <a:solidFill>
                  <a:srgbClr val="FF0000"/>
                </a:solidFill>
                <a:sym typeface="+mn-ea"/>
              </a:rPr>
              <a:t>Students</a:t>
            </a:r>
            <a:endParaRPr lang="en-US" sz="4000">
              <a:solidFill>
                <a:srgbClr val="FF0000"/>
              </a:solidFill>
            </a:endParaRPr>
          </a:p>
        </p:txBody>
      </p:sp>
      <p:graphicFrame>
        <p:nvGraphicFramePr>
          <p:cNvPr id="5" name="Content Placeholder 4"/>
          <p:cNvGraphicFramePr/>
          <p:nvPr>
            <p:ph idx="1"/>
          </p:nvPr>
        </p:nvGraphicFramePr>
        <p:xfrm>
          <a:off x="72390" y="615950"/>
          <a:ext cx="12035155" cy="60210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5285"/>
                <a:gridCol w="6579870"/>
              </a:tblGrid>
              <a:tr h="5791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200"/>
                        <a:t>Use Case</a:t>
                      </a:r>
                      <a:endParaRPr lang="en-US" sz="3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200"/>
                        <a:t>Tools</a:t>
                      </a:r>
                      <a:endParaRPr lang="en-US" sz="3200"/>
                    </a:p>
                  </a:txBody>
                  <a:tcPr/>
                </a:tc>
              </a:tr>
              <a:tr h="1845310">
                <a:tc>
                  <a:txBody>
                    <a:bodyPr/>
                    <a:p>
                      <a:pPr algn="just">
                        <a:lnSpc>
                          <a:spcPct val="130000"/>
                        </a:lnSpc>
                      </a:pPr>
                      <a:r>
                        <a:rPr lang="en-US" sz="3200" b="0">
                          <a:solidFill>
                            <a:srgbClr val="002060"/>
                          </a:solidFill>
                          <a:sym typeface="+mn-ea"/>
                        </a:rPr>
                        <a:t>Data Analysis Assistant</a:t>
                      </a:r>
                      <a:endParaRPr lang="en-US" sz="3200" b="0">
                        <a:solidFill>
                          <a:srgbClr val="002060"/>
                        </a:solidFill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200">
                          <a:sym typeface="+mn-ea"/>
                        </a:rPr>
                        <a:t>run_regression, </a:t>
                      </a:r>
                      <a:endParaRPr lang="en-US" sz="3200"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en-US" sz="3200">
                          <a:sym typeface="+mn-ea"/>
                        </a:rPr>
                        <a:t>check_assumptions, </a:t>
                      </a:r>
                      <a:endParaRPr lang="en-US" sz="3200"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en-US" sz="3200">
                          <a:sym typeface="+mn-ea"/>
                        </a:rPr>
                        <a:t>visualize_distribution, </a:t>
                      </a:r>
                      <a:endParaRPr lang="en-US" sz="3200"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en-US" sz="3200">
                          <a:sym typeface="+mn-ea"/>
                        </a:rPr>
                        <a:t>suggest_tests</a:t>
                      </a:r>
                      <a:endParaRPr lang="en-US" sz="3200"/>
                    </a:p>
                  </a:txBody>
                  <a:tcPr/>
                </a:tc>
              </a:tr>
              <a:tr h="1554480">
                <a:tc>
                  <a:txBody>
                    <a:bodyPr/>
                    <a:p>
                      <a:pPr algn="just">
                        <a:lnSpc>
                          <a:spcPct val="130000"/>
                        </a:lnSpc>
                      </a:pPr>
                      <a:r>
                        <a:rPr lang="en-US" sz="3200">
                          <a:solidFill>
                            <a:srgbClr val="002060"/>
                          </a:solidFill>
                          <a:sym typeface="+mn-ea"/>
                        </a:rPr>
                        <a:t>Coding Assignment Helper</a:t>
                      </a:r>
                      <a:endParaRPr lang="en-US" sz="3200">
                        <a:solidFill>
                          <a:srgbClr val="002060"/>
                        </a:solidFill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200">
                          <a:sym typeface="+mn-ea"/>
                        </a:rPr>
                        <a:t>explain_error</a:t>
                      </a:r>
                      <a:endParaRPr lang="en-US" sz="3200"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en-US" sz="3200">
                          <a:sym typeface="+mn-ea"/>
                        </a:rPr>
                        <a:t>suggest_optimization</a:t>
                      </a:r>
                      <a:endParaRPr lang="en-US" sz="3200"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en-US" sz="3200">
                          <a:sym typeface="+mn-ea"/>
                        </a:rPr>
                        <a:t>check_complexity</a:t>
                      </a:r>
                      <a:endParaRPr lang="en-US" sz="3200"/>
                    </a:p>
                  </a:txBody>
                  <a:tcPr/>
                </a:tc>
              </a:tr>
              <a:tr h="2042160">
                <a:tc>
                  <a:txBody>
                    <a:bodyPr/>
                    <a:p>
                      <a:pPr algn="just">
                        <a:lnSpc>
                          <a:spcPct val="130000"/>
                        </a:lnSpc>
                        <a:buNone/>
                      </a:pPr>
                      <a:r>
                        <a:rPr lang="en-US" sz="3200" b="0">
                          <a:solidFill>
                            <a:srgbClr val="002060"/>
                          </a:solidFill>
                          <a:sym typeface="+mn-ea"/>
                        </a:rPr>
                        <a:t>Literature Review Automation</a:t>
                      </a:r>
                      <a:endParaRPr lang="en-US" sz="3200" b="0">
                        <a:solidFill>
                          <a:srgbClr val="002060"/>
                        </a:solidFill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200">
                          <a:sym typeface="+mn-ea"/>
                        </a:rPr>
                        <a:t>search_arxiv</a:t>
                      </a:r>
                      <a:endParaRPr lang="en-US" sz="3200"/>
                    </a:p>
                    <a:p>
                      <a:pPr>
                        <a:buNone/>
                      </a:pPr>
                      <a:r>
                        <a:rPr lang="en-US" sz="3200">
                          <a:sym typeface="+mn-ea"/>
                        </a:rPr>
                        <a:t>extract_methodology,</a:t>
                      </a:r>
                      <a:endParaRPr lang="en-US" sz="3200"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en-US" sz="3200">
                          <a:sym typeface="+mn-ea"/>
                        </a:rPr>
                        <a:t>compare_results, </a:t>
                      </a:r>
                      <a:endParaRPr lang="en-US" sz="3200"/>
                    </a:p>
                    <a:p>
                      <a:pPr>
                        <a:buNone/>
                      </a:pPr>
                      <a:r>
                        <a:rPr lang="en-US" sz="3200">
                          <a:sym typeface="+mn-ea"/>
                        </a:rPr>
                        <a:t>generate_summary_table</a:t>
                      </a:r>
                      <a:endParaRPr lang="en-US" sz="32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910" y="0"/>
            <a:ext cx="11537315" cy="879475"/>
          </a:xfrm>
        </p:spPr>
        <p:txBody>
          <a:bodyPr/>
          <a:p>
            <a:pPr algn="ctr"/>
            <a:r>
              <a:rPr lang="en-US" sz="4000">
                <a:solidFill>
                  <a:srgbClr val="FF0000"/>
                </a:solidFill>
                <a:sym typeface="+mn-ea"/>
              </a:rPr>
              <a:t>Academic Use Cases - For Professors</a:t>
            </a:r>
            <a:endParaRPr lang="en-US" sz="4000">
              <a:solidFill>
                <a:srgbClr val="FF0000"/>
              </a:solidFill>
            </a:endParaRPr>
          </a:p>
        </p:txBody>
      </p:sp>
      <p:graphicFrame>
        <p:nvGraphicFramePr>
          <p:cNvPr id="5" name="Content Placeholder 4"/>
          <p:cNvGraphicFramePr/>
          <p:nvPr>
            <p:ph idx="1"/>
          </p:nvPr>
        </p:nvGraphicFramePr>
        <p:xfrm>
          <a:off x="169545" y="639445"/>
          <a:ext cx="11866880" cy="621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01590"/>
                <a:gridCol w="6765290"/>
              </a:tblGrid>
              <a:tr h="5791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200"/>
                        <a:t>Use Case</a:t>
                      </a:r>
                      <a:endParaRPr lang="en-US" sz="3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200"/>
                        <a:t>Tools</a:t>
                      </a:r>
                      <a:endParaRPr lang="en-US" sz="3200"/>
                    </a:p>
                  </a:txBody>
                  <a:tcPr/>
                </a:tc>
              </a:tr>
              <a:tr h="2042160">
                <a:tc>
                  <a:txBody>
                    <a:bodyPr/>
                    <a:p>
                      <a:pPr algn="just">
                        <a:lnSpc>
                          <a:spcPct val="130000"/>
                        </a:lnSpc>
                      </a:pPr>
                      <a:r>
                        <a:rPr lang="en-US" sz="3200">
                          <a:solidFill>
                            <a:srgbClr val="002060"/>
                          </a:solidFill>
                          <a:sym typeface="+mn-ea"/>
                        </a:rPr>
                        <a:t>Automated Grading Assistant</a:t>
                      </a:r>
                      <a:endParaRPr lang="en-US" sz="3200">
                        <a:solidFill>
                          <a:srgbClr val="002060"/>
                        </a:solidFill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200">
                          <a:sym typeface="+mn-ea"/>
                        </a:rPr>
                        <a:t>check_code_correctness,</a:t>
                      </a:r>
                      <a:endParaRPr lang="en-US" sz="3200"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en-US" sz="3200">
                          <a:sym typeface="+mn-ea"/>
                        </a:rPr>
                        <a:t>evaluate_essay_structure,</a:t>
                      </a:r>
                      <a:endParaRPr lang="en-US" sz="3200"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en-US" sz="3200">
                          <a:sym typeface="+mn-ea"/>
                        </a:rPr>
                        <a:t>detect_plagiarism_patterns, provide_feedback</a:t>
                      </a:r>
                      <a:endParaRPr lang="en-US" sz="3200"/>
                    </a:p>
                  </a:txBody>
                  <a:tcPr/>
                </a:tc>
              </a:tr>
              <a:tr h="1554480">
                <a:tc>
                  <a:txBody>
                    <a:bodyPr/>
                    <a:p>
                      <a:pPr algn="just">
                        <a:lnSpc>
                          <a:spcPct val="130000"/>
                        </a:lnSpc>
                      </a:pPr>
                      <a:r>
                        <a:rPr lang="en-US" sz="3200">
                          <a:solidFill>
                            <a:srgbClr val="002060"/>
                          </a:solidFill>
                          <a:sym typeface="+mn-ea"/>
                        </a:rPr>
                        <a:t>Research Data Pipeline</a:t>
                      </a:r>
                      <a:endParaRPr lang="en-US" sz="3200">
                        <a:solidFill>
                          <a:srgbClr val="002060"/>
                        </a:solidFill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200">
                          <a:sym typeface="+mn-ea"/>
                        </a:rPr>
                        <a:t>clean_experimental_data,</a:t>
                      </a:r>
                      <a:endParaRPr lang="en-US" sz="3200"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en-US" sz="3200">
                          <a:sym typeface="+mn-ea"/>
                        </a:rPr>
                        <a:t>run_statistical_tests,</a:t>
                      </a:r>
                      <a:endParaRPr lang="en-US" sz="3200"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en-US" sz="3200">
                          <a:sym typeface="+mn-ea"/>
                        </a:rPr>
                        <a:t>generate_plots, export_latex_table</a:t>
                      </a:r>
                      <a:endParaRPr lang="en-US" sz="3200"/>
                    </a:p>
                  </a:txBody>
                  <a:tcPr/>
                </a:tc>
              </a:tr>
              <a:tr h="2042160">
                <a:tc>
                  <a:txBody>
                    <a:bodyPr/>
                    <a:p>
                      <a:pPr algn="just">
                        <a:lnSpc>
                          <a:spcPct val="130000"/>
                        </a:lnSpc>
                        <a:buNone/>
                      </a:pPr>
                      <a:r>
                        <a:rPr lang="en-US" sz="3200">
                          <a:solidFill>
                            <a:srgbClr val="002060"/>
                          </a:solidFill>
                          <a:sym typeface="+mn-ea"/>
                        </a:rPr>
                        <a:t>Grant Writing Assistant</a:t>
                      </a:r>
                      <a:endParaRPr lang="en-US" sz="3200">
                        <a:solidFill>
                          <a:srgbClr val="002060"/>
                        </a:solidFill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3200">
                          <a:sym typeface="+mn-ea"/>
                        </a:rPr>
                        <a:t>check_compliance, suggest_relevant_citations, estimate_budget_justification, format_to_template</a:t>
                      </a:r>
                      <a:endParaRPr lang="en-US" sz="32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15" y="258445"/>
            <a:ext cx="11537315" cy="879475"/>
          </a:xfrm>
        </p:spPr>
        <p:txBody>
          <a:bodyPr/>
          <a:p>
            <a:pPr algn="ctr"/>
            <a:r>
              <a:rPr lang="en-US" sz="4000">
                <a:solidFill>
                  <a:srgbClr val="FF0000"/>
                </a:solidFill>
              </a:rPr>
              <a:t>RoadMap for 27th October 2025 </a:t>
            </a:r>
            <a:endParaRPr lang="en-US" sz="400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" y="1137920"/>
            <a:ext cx="12190730" cy="5476240"/>
          </a:xfrm>
        </p:spPr>
        <p:txBody>
          <a:bodyPr>
            <a:noAutofit/>
          </a:bodyPr>
          <a:p>
            <a:pPr algn="just">
              <a:lnSpc>
                <a:spcPct val="130000"/>
              </a:lnSpc>
            </a:pPr>
            <a:r>
              <a:rPr lang="en-US" sz="3600">
                <a:solidFill>
                  <a:srgbClr val="002060"/>
                </a:solidFill>
                <a:sym typeface="+mn-ea"/>
              </a:rPr>
              <a:t>MCP Architecture</a:t>
            </a:r>
            <a:endParaRPr lang="en-US" sz="3600">
              <a:solidFill>
                <a:srgbClr val="002060"/>
              </a:solidFill>
              <a:sym typeface="+mn-ea"/>
            </a:endParaRPr>
          </a:p>
          <a:p>
            <a:pPr algn="just">
              <a:lnSpc>
                <a:spcPct val="130000"/>
              </a:lnSpc>
            </a:pPr>
            <a:r>
              <a:rPr lang="en-US" sz="3600">
                <a:solidFill>
                  <a:srgbClr val="002060"/>
                </a:solidFill>
              </a:rPr>
              <a:t>Connecting with existing MCP Servers</a:t>
            </a:r>
            <a:endParaRPr lang="en-US" sz="3600">
              <a:solidFill>
                <a:srgbClr val="002060"/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sz="3600">
                <a:solidFill>
                  <a:srgbClr val="002060"/>
                </a:solidFill>
              </a:rPr>
              <a:t>Connecting with local DB using MCP Server</a:t>
            </a:r>
            <a:endParaRPr lang="en-US" sz="3600">
              <a:solidFill>
                <a:srgbClr val="002060"/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sz="3600">
                <a:solidFill>
                  <a:srgbClr val="002060"/>
                </a:solidFill>
              </a:rPr>
              <a:t>Building toy MCP Server and Clients</a:t>
            </a:r>
            <a:endParaRPr lang="en-US" sz="3600">
              <a:solidFill>
                <a:srgbClr val="002060"/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sz="3600">
                <a:solidFill>
                  <a:srgbClr val="002060"/>
                </a:solidFill>
              </a:rPr>
              <a:t>Building a MCP Server for image rotation using OpenCV</a:t>
            </a:r>
            <a:endParaRPr lang="en-US" sz="3600">
              <a:solidFill>
                <a:srgbClr val="002060"/>
              </a:solidFill>
            </a:endParaRPr>
          </a:p>
          <a:p>
            <a:pPr algn="just">
              <a:lnSpc>
                <a:spcPct val="130000"/>
              </a:lnSpc>
            </a:pPr>
            <a:r>
              <a:rPr lang="en-US" sz="3600">
                <a:solidFill>
                  <a:srgbClr val="002060"/>
                </a:solidFill>
              </a:rPr>
              <a:t>Build a Flask and FastAPI apps to test the Server built</a:t>
            </a:r>
            <a:endParaRPr lang="en-US" sz="360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" y="1503045"/>
            <a:ext cx="12190730" cy="3315970"/>
          </a:xfrm>
        </p:spPr>
        <p:txBody>
          <a:bodyPr>
            <a:noAutofit/>
          </a:bodyPr>
          <a:p>
            <a:pPr marL="0" indent="0" algn="ctr">
              <a:lnSpc>
                <a:spcPct val="130000"/>
              </a:lnSpc>
              <a:buNone/>
            </a:pPr>
            <a:r>
              <a:rPr lang="en-US" sz="6000" b="1">
                <a:solidFill>
                  <a:srgbClr val="EC32E1"/>
                </a:solidFill>
                <a:sym typeface="+mn-ea"/>
              </a:rPr>
              <a:t>Thank You</a:t>
            </a:r>
            <a:endParaRPr lang="en-US" sz="6000" b="1">
              <a:solidFill>
                <a:srgbClr val="EC32E1"/>
              </a:solidFill>
              <a:sym typeface="+mn-ea"/>
            </a:endParaRPr>
          </a:p>
          <a:p>
            <a:pPr marL="0" indent="0" algn="ctr">
              <a:lnSpc>
                <a:spcPct val="130000"/>
              </a:lnSpc>
              <a:buNone/>
            </a:pPr>
            <a:r>
              <a:rPr lang="en-US" sz="6000" b="1">
                <a:solidFill>
                  <a:srgbClr val="EC32E1"/>
                </a:solidFill>
              </a:rPr>
              <a:t>Meet you Tomorrow :) </a:t>
            </a:r>
            <a:endParaRPr lang="en-US" sz="6000" b="1">
              <a:solidFill>
                <a:srgbClr val="EC32E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12352</Words>
  <Application>WPS Presentation</Application>
  <PresentationFormat>宽屏</PresentationFormat>
  <Paragraphs>461</Paragraphs>
  <Slides>47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47</vt:i4>
      </vt:variant>
    </vt:vector>
  </HeadingPairs>
  <TitlesOfParts>
    <vt:vector size="63" baseType="lpstr">
      <vt:lpstr>Arial</vt:lpstr>
      <vt:lpstr>SimSun</vt:lpstr>
      <vt:lpstr>Wingdings</vt:lpstr>
      <vt:lpstr>Nimbus Roman No9 L</vt:lpstr>
      <vt:lpstr>Arial Black</vt:lpstr>
      <vt:lpstr>Microsoft YaHei</vt:lpstr>
      <vt:lpstr>Droid Sans Fallback</vt:lpstr>
      <vt:lpstr>Arial Unicode MS</vt:lpstr>
      <vt:lpstr>SimSun</vt:lpstr>
      <vt:lpstr>OpenSymbol</vt:lpstr>
      <vt:lpstr>Arial,Sans-Serif</vt:lpstr>
      <vt:lpstr>Arial</vt:lpstr>
      <vt:lpstr>Andika</vt:lpstr>
      <vt:lpstr>Noto Sans Symbols2</vt:lpstr>
      <vt:lpstr>Abyssinica SIL</vt:lpstr>
      <vt:lpstr>Office Theme</vt:lpstr>
      <vt:lpstr>Model Context Protocol  Introduction</vt:lpstr>
      <vt:lpstr>Agents</vt:lpstr>
      <vt:lpstr>Multi-agent</vt:lpstr>
      <vt:lpstr>Model Context Protocol (MCP)</vt:lpstr>
      <vt:lpstr>Model Context Protocol (MCP)</vt:lpstr>
      <vt:lpstr>Why MCP</vt:lpstr>
      <vt:lpstr>Pre-MCP Era: How LLMs Accessed External Data</vt:lpstr>
      <vt:lpstr>Drawbacks and Limitations of Tool Calling</vt:lpstr>
      <vt:lpstr>Solution by MCP</vt:lpstr>
      <vt:lpstr>Drawbacks and Limitations of Tool Calling</vt:lpstr>
      <vt:lpstr>Solution by MCP</vt:lpstr>
      <vt:lpstr>Drawbacks and Limitations of Tool Calling</vt:lpstr>
      <vt:lpstr>Solution by MCP</vt:lpstr>
      <vt:lpstr>Solution by MCP</vt:lpstr>
      <vt:lpstr>Drawbacks and Limitations of Tool Calling</vt:lpstr>
      <vt:lpstr>Solution by MCP</vt:lpstr>
      <vt:lpstr>Solution by MCP</vt:lpstr>
      <vt:lpstr>Drawbacks and Limitations of Tool Calling</vt:lpstr>
      <vt:lpstr>Solution by MCP</vt:lpstr>
      <vt:lpstr>Solution by MCP</vt:lpstr>
      <vt:lpstr>Drawbacks and Limitations of Tool Calling</vt:lpstr>
      <vt:lpstr>Solution by MCP</vt:lpstr>
      <vt:lpstr>Solution by MCP</vt:lpstr>
      <vt:lpstr>Model Context Protocol</vt:lpstr>
      <vt:lpstr>Fields Where MCP Is Being Used (or Explored)</vt:lpstr>
      <vt:lpstr>Fields Where MCP Is Being Used (or Explored)</vt:lpstr>
      <vt:lpstr>Fields Where MCP Is Being Used (or Explored)</vt:lpstr>
      <vt:lpstr>Fields Where MCP Is Being Used (or Explored)</vt:lpstr>
      <vt:lpstr>Fields Where MCP Is Being Used (or Explored)</vt:lpstr>
      <vt:lpstr>Fields Where MCP Is Being Used (or Explored)</vt:lpstr>
      <vt:lpstr>Fields Where MCP Is Being Used (or Explored)</vt:lpstr>
      <vt:lpstr>Fields Where MCP Is Being Used (or Explored)</vt:lpstr>
      <vt:lpstr>Fields Where MCP Is Being Used (or Explored)</vt:lpstr>
      <vt:lpstr>Fields Where MCP Is Being Used (or Explored)</vt:lpstr>
      <vt:lpstr>Fields Where MCP Is Being Used (or Explored)</vt:lpstr>
      <vt:lpstr>Fields Where MCP Is Being Used (or Explored)</vt:lpstr>
      <vt:lpstr>Why Students &amp; Academicians Should Learn MCP</vt:lpstr>
      <vt:lpstr>Why Students &amp; Academicians Should Learn MCP</vt:lpstr>
      <vt:lpstr>Why Students &amp; Academicians Should Learn MCP</vt:lpstr>
      <vt:lpstr>Why Students &amp; Academicians Should Learn MCP</vt:lpstr>
      <vt:lpstr>Why Students &amp; Academicians Should Learn MCP</vt:lpstr>
      <vt:lpstr>Why Students &amp; Academicians Should Learn MCP</vt:lpstr>
      <vt:lpstr>Why Students &amp; Academicians Should Learn MCP</vt:lpstr>
      <vt:lpstr>Academic Use Cases - For Students</vt:lpstr>
      <vt:lpstr>Academic Use Cases - For Professors</vt:lpstr>
      <vt:lpstr>Academic Use Cases - For Students</vt:lpstr>
      <vt:lpstr>RoadMap for 27th October 2025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janaki</cp:lastModifiedBy>
  <cp:revision>245</cp:revision>
  <dcterms:created xsi:type="dcterms:W3CDTF">2025-10-25T15:45:00Z</dcterms:created>
  <dcterms:modified xsi:type="dcterms:W3CDTF">2025-10-25T15:45:00Z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1033-11.1.0.11723</vt:lpwstr>
  </property>
  <property fmtid="{D5CDD505-2E9C-101B-9397-08002B2CF9AE}" pid="3" name="ICV">
    <vt:lpwstr/>
  </property>
</Properties>
</file>