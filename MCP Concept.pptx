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notesMaster" Target="notesMasters/notesMaster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github.com/modelcontextprotocol/servers" TargetMode="External"/><Relationship Id="rId3" Type="http://schemas.openxmlformats.org/officeDocument/2006/relationships/hyperlink" Target="https://github.com/modelcontextprotocol/inspector" TargetMode="External"/><Relationship Id="rId2" Type="http://schemas.openxmlformats.org/officeDocument/2006/relationships/hyperlink" Target="https://modelcontextprotocol.io/docs/sdk" TargetMode="External"/><Relationship Id="rId1" Type="http://schemas.openxmlformats.org/officeDocument/2006/relationships/hyperlink" Target="https://modelcontextprotocol.io/specification/2025-06-18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26565" y="554990"/>
            <a:ext cx="9144000" cy="1014730"/>
          </a:xfrm>
        </p:spPr>
        <p:txBody>
          <a:bodyPr>
            <a:no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Concepts of MCP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2731770"/>
            <a:ext cx="9144000" cy="2117725"/>
          </a:xfrm>
        </p:spPr>
        <p:txBody>
          <a:bodyPr>
            <a:noAutofit/>
          </a:bodyPr>
          <a:lstStyle/>
          <a:p>
            <a:r>
              <a:rPr lang="en-US" altLang="zh-CN" sz="4000" b="1">
                <a:solidFill>
                  <a:srgbClr val="002060"/>
                </a:solidFill>
              </a:rPr>
              <a:t>Dr M Janaki Meena</a:t>
            </a:r>
            <a:endParaRPr lang="en-US" altLang="zh-CN" sz="4000" b="1">
              <a:solidFill>
                <a:srgbClr val="002060"/>
              </a:solidFill>
            </a:endParaRPr>
          </a:p>
          <a:p>
            <a:r>
              <a:rPr lang="en-US" altLang="zh-CN" sz="4000" b="1">
                <a:solidFill>
                  <a:srgbClr val="002060"/>
                </a:solidFill>
              </a:rPr>
              <a:t>Professor, SCOPE</a:t>
            </a:r>
            <a:endParaRPr lang="en-US" altLang="zh-CN" sz="4000" b="1">
              <a:solidFill>
                <a:srgbClr val="002060"/>
              </a:solidFill>
            </a:endParaRPr>
          </a:p>
          <a:p>
            <a:r>
              <a:rPr lang="en-US" altLang="zh-CN" sz="4000" b="1">
                <a:solidFill>
                  <a:srgbClr val="002060"/>
                </a:solidFill>
              </a:rPr>
              <a:t>VIT Chennai</a:t>
            </a:r>
            <a:endParaRPr lang="en-US" altLang="zh-CN" sz="4000" b="1">
              <a:solidFill>
                <a:srgbClr val="00206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Model Context Protocol (MCP)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200785"/>
            <a:ext cx="11483975" cy="4976495"/>
          </a:xfrm>
        </p:spPr>
        <p:txBody>
          <a:bodyPr/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Open-source standard for connecting AI applications to external systems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Like a USB-C port for AI applications.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Just as USB-C provides a standardized way to connect electronic devices, MCP provides a standardized way to connect AI applications to external systems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Model Context Protocol (MCP)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961390"/>
            <a:ext cx="11819255" cy="461518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What can MCP do?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200785"/>
            <a:ext cx="11483975" cy="4976495"/>
          </a:xfrm>
        </p:spPr>
        <p:txBody>
          <a:bodyPr>
            <a:normAutofit fontScale="90000"/>
          </a:bodyPr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Agents can access your Google Calendar and Notion, acting as a more personalized AI assistant.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Claude Code can generate an entire web app using a Figma design.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Enterprise chatbots can connect to multiple databases across an organization, empowering users to analyze data using chat.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AI models can create 3D designs on Blender and print them out using a 3D printer.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Why MCP?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rmAutofit fontScale="90000"/>
          </a:bodyPr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Developers: </a:t>
            </a:r>
            <a:r>
              <a:rPr lang="en-US" sz="3600">
                <a:solidFill>
                  <a:srgbClr val="002060"/>
                </a:solidFill>
              </a:rPr>
              <a:t>Reduces development time and complexity when building, or integrating with, an AI application or agent.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AI applications or agents: </a:t>
            </a:r>
            <a:r>
              <a:rPr lang="en-US" sz="3600">
                <a:solidFill>
                  <a:srgbClr val="002060"/>
                </a:solidFill>
              </a:rPr>
              <a:t>Provides access to an ecosystem of data sources, tools and apps which will enhance capabilities and improve the end-user experience.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End-users:</a:t>
            </a:r>
            <a:r>
              <a:rPr lang="en-US" sz="3600">
                <a:solidFill>
                  <a:srgbClr val="002060"/>
                </a:solidFill>
              </a:rPr>
              <a:t> MCP results in more capable AI applications or agents which can access your data and take actions on your behalf when necessary.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Scope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rmAutofit fontScale="90000" lnSpcReduction="10000"/>
          </a:bodyPr>
          <a:p>
            <a:pPr marL="0" indent="0">
              <a:lnSpc>
                <a:spcPct val="120000"/>
              </a:lnSpc>
              <a:buNone/>
            </a:pPr>
            <a:r>
              <a:rPr lang="en-US" sz="3600">
                <a:solidFill>
                  <a:srgbClr val="002060"/>
                </a:solidFill>
              </a:rPr>
              <a:t>The Model Context Protocol includes the following projects: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1" tooltip="" action="ppaction://hlinkfile"/>
              </a:rPr>
              <a:t>MCP Specification</a:t>
            </a:r>
            <a:r>
              <a:rPr lang="en-US" sz="3600" b="1">
                <a:solidFill>
                  <a:srgbClr val="002060"/>
                </a:solidFill>
              </a:rPr>
              <a:t>: </a:t>
            </a:r>
            <a:r>
              <a:rPr lang="en-US" sz="3600">
                <a:solidFill>
                  <a:srgbClr val="002060"/>
                </a:solidFill>
              </a:rPr>
              <a:t>A specification of MCP that outlines the implementation requirements for clients and servers.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2" tooltip="" action="ppaction://hlinkfile"/>
              </a:rPr>
              <a:t>MCP SDKs</a:t>
            </a:r>
            <a:r>
              <a:rPr lang="en-US" sz="3600" b="1">
                <a:solidFill>
                  <a:srgbClr val="002060"/>
                </a:solidFill>
              </a:rPr>
              <a:t>:</a:t>
            </a:r>
            <a:r>
              <a:rPr lang="en-US" sz="3600">
                <a:solidFill>
                  <a:srgbClr val="002060"/>
                </a:solidFill>
              </a:rPr>
              <a:t> SDKs for different programming languages that implement MCP.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</a:rPr>
              <a:t>MCP Development Tools</a:t>
            </a:r>
            <a:r>
              <a:rPr lang="en-US" sz="3600">
                <a:solidFill>
                  <a:srgbClr val="002060"/>
                </a:solidFill>
              </a:rPr>
              <a:t>: Tools for developing MCP servers and clients, including the </a:t>
            </a:r>
            <a:r>
              <a:rPr lang="en-US" sz="3600" b="1">
                <a:solidFill>
                  <a:srgbClr val="002060"/>
                </a:solidFill>
                <a:hlinkClick r:id="rId3" tooltip="" action="ppaction://hlinkfile"/>
              </a:rPr>
              <a:t>MCP Inspector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600" b="1">
                <a:solidFill>
                  <a:srgbClr val="002060"/>
                </a:solidFill>
                <a:hlinkClick r:id="rId4" tooltip="" action="ppaction://hlinkfile"/>
              </a:rPr>
              <a:t>MCP Reference Server Implementations</a:t>
            </a:r>
            <a:r>
              <a:rPr lang="en-US" sz="3600">
                <a:solidFill>
                  <a:srgbClr val="002060"/>
                </a:solidFill>
              </a:rPr>
              <a:t>: Reference implementations of MCP servers.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Key participants in MCP architecture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385" y="1009015"/>
            <a:ext cx="11483975" cy="5669280"/>
          </a:xfrm>
        </p:spPr>
        <p:txBody>
          <a:bodyPr>
            <a:noAutofit/>
          </a:bodyPr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Host:</a:t>
            </a:r>
            <a:r>
              <a:rPr lang="en-US" sz="3600">
                <a:solidFill>
                  <a:srgbClr val="002060"/>
                </a:solidFill>
              </a:rPr>
              <a:t> AI application that coordinates and manages one or multiple MCP clients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Client: </a:t>
            </a:r>
            <a:r>
              <a:rPr lang="en-US" sz="3600">
                <a:solidFill>
                  <a:srgbClr val="002060"/>
                </a:solidFill>
              </a:rPr>
              <a:t>A component that maintains a connection to an MCP server and obtains context from an MCP server for the MCP host to use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600" b="1">
                <a:solidFill>
                  <a:srgbClr val="002060"/>
                </a:solidFill>
              </a:rPr>
              <a:t>MCP Server:</a:t>
            </a:r>
            <a:r>
              <a:rPr lang="en-US" sz="3600">
                <a:solidFill>
                  <a:srgbClr val="002060"/>
                </a:solidFill>
              </a:rPr>
              <a:t> A program that provides context to MCP clients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Key participants in MCP architecture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400810"/>
            <a:ext cx="11096625" cy="44862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MCP Layers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100901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Data layer:</a:t>
            </a:r>
            <a:r>
              <a:rPr lang="en-US" sz="3600">
                <a:solidFill>
                  <a:srgbClr val="002060"/>
                </a:solidFill>
              </a:rPr>
              <a:t> Defines the JSON-RPC based protocol for client-server communication, including lifecycle management, and core primitives, such as tools, resources, prompts and notifications.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Transport layer: </a:t>
            </a:r>
            <a:r>
              <a:rPr lang="en-US" sz="3600">
                <a:solidFill>
                  <a:srgbClr val="002060"/>
                </a:solidFill>
              </a:rPr>
              <a:t>Defines the communication mechanisms and channels that enable data exchange between clients and servers, including transport-specific connection establishment, message framing, and authorization.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Data layer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100901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Lifecycle management:</a:t>
            </a:r>
            <a:r>
              <a:rPr lang="en-US" sz="3600">
                <a:solidFill>
                  <a:srgbClr val="002060"/>
                </a:solidFill>
              </a:rPr>
              <a:t> Handles connection initialization, capability negotiation, and connection termination between clients and servers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Server features:</a:t>
            </a:r>
            <a:r>
              <a:rPr lang="en-US" sz="3600">
                <a:solidFill>
                  <a:srgbClr val="002060"/>
                </a:solidFill>
              </a:rPr>
              <a:t> Enables servers to provide core functionality including tools for AI actions, resources for context data, and prompts for interaction templates from and to the client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42340"/>
          </a:xfrm>
        </p:spPr>
        <p:txBody>
          <a:bodyPr/>
          <a:p>
            <a:pPr algn="ctr"/>
            <a:r>
              <a:rPr lang="en-US" sz="4000">
                <a:solidFill>
                  <a:srgbClr val="C00000"/>
                </a:solidFill>
              </a:rPr>
              <a:t>Data layer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1009015"/>
            <a:ext cx="11903075" cy="5669280"/>
          </a:xfrm>
        </p:spPr>
        <p:txBody>
          <a:bodyPr>
            <a:noAutofit/>
          </a:bodyPr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Client features:</a:t>
            </a:r>
            <a:r>
              <a:rPr lang="en-US" sz="3600">
                <a:solidFill>
                  <a:srgbClr val="002060"/>
                </a:solidFill>
              </a:rPr>
              <a:t> Enables servers to ask the client to sample from the host LLM, elicit input from the user, and log messages to the client</a:t>
            </a:r>
            <a:endParaRPr lang="en-US" sz="3600">
              <a:solidFill>
                <a:srgbClr val="00206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Utility features:</a:t>
            </a:r>
            <a:r>
              <a:rPr lang="en-US" sz="3600">
                <a:solidFill>
                  <a:srgbClr val="002060"/>
                </a:solidFill>
              </a:rPr>
              <a:t> Supports additional capabilities like notifications for real-time updates and progress tracking for long-running operations</a:t>
            </a:r>
            <a:endParaRPr lang="en-US" sz="36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Transport layer - Abstracts Communication Details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Stdio transport:</a:t>
            </a:r>
            <a:r>
              <a:rPr lang="en-US" sz="3400">
                <a:solidFill>
                  <a:srgbClr val="002060"/>
                </a:solidFill>
              </a:rPr>
              <a:t> Uses standard I/O streams for direct process communication between local processes on the same machine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Streamable HTTP transport:</a:t>
            </a:r>
            <a:r>
              <a:rPr lang="en-US" sz="3400">
                <a:solidFill>
                  <a:srgbClr val="002060"/>
                </a:solidFill>
              </a:rPr>
              <a:t> Uses HTTP POST for client-to-server messages with optional Server-Sent Events for streaming capabilities.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Enables remote server communication and supports standard HTTP authentication methods including bearer tokens, API keys, and custom headers.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MCP recommends using OAuth to obtain authentication tokens.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Data Layer Protocol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Part of MCP that defines the ways developers can share context from MCP servers to MCP clients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MCP uses JSON-RPC 2.0 as its underlying RPC protocol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Client and servers send requests to each other and respond accordingly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Notifications can be used when no response is required.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Lifecycle management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MCP is a stateful protocol that requires lifecycle management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The purpose of lifecycle management is to negotiate the capabilities that both client and server support.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Detailed information can be found in the specification, and the example showcases the initialization sequence.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Most important concept within MCP that define what clients and servers can offer each other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Tools:</a:t>
            </a:r>
            <a:r>
              <a:rPr lang="en-US" sz="3400">
                <a:solidFill>
                  <a:srgbClr val="002060"/>
                </a:solidFill>
              </a:rPr>
              <a:t> Executable functions that AI applications can invoke to perform actions (e.g., file operations, API calls, database queries)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Resources:</a:t>
            </a:r>
            <a:r>
              <a:rPr lang="en-US" sz="3400">
                <a:solidFill>
                  <a:srgbClr val="002060"/>
                </a:solidFill>
              </a:rPr>
              <a:t> Data sources that provide contextual information to AI applications (e.g., file contents, database records, API responses)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Prompts:</a:t>
            </a:r>
            <a:r>
              <a:rPr lang="en-US" sz="3400">
                <a:solidFill>
                  <a:srgbClr val="002060"/>
                </a:solidFill>
              </a:rPr>
              <a:t> Reusable templates that help structure interactions with language models (e.g., system prompts, few-shot examples)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Sampling: </a:t>
            </a:r>
            <a:r>
              <a:rPr lang="en-US" sz="3400">
                <a:solidFill>
                  <a:srgbClr val="002060"/>
                </a:solidFill>
              </a:rPr>
              <a:t>Allows servers to request language model completions from the client’s AI application.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Useful when servers’ authors want access to a language model, but want to stay model independent and not include a language model SDK in their MCP server.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They can use the sampling/complete method to request a language model completion from the client’s AI application.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Primitives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1903075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Elicitation</a:t>
            </a:r>
            <a:r>
              <a:rPr lang="en-US" sz="3400">
                <a:solidFill>
                  <a:srgbClr val="002060"/>
                </a:solidFill>
              </a:rPr>
              <a:t>: Allows servers to request additional information from users.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Useful when servers’ authors want to get more information from the user, or ask for confirmation of an action.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  <a:sym typeface="+mn-ea"/>
              </a:rPr>
              <a:t>Logging</a:t>
            </a:r>
            <a:r>
              <a:rPr lang="en-US" sz="3400">
                <a:solidFill>
                  <a:srgbClr val="002060"/>
                </a:solidFill>
                <a:sym typeface="+mn-ea"/>
              </a:rPr>
              <a:t>: Enables servers to send log messages to clients for debugging and monitoring purposes.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Protocol supports real-time notifications to enable dynamic updates between servers and clients.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Eg: When a server’s available tools change—a new functionality becomes available or existing tools modified—the server can send tool update notifications to inform connected clients about changes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Notifications are sent as JSON-RPC 2.0 notification messages without expecting a response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Example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Data Layer</a:t>
            </a:r>
            <a:endParaRPr lang="en-US" sz="34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Provides a step-by-step walkthrough of an MCP client-server interaction, focusing on the data layer protocol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Initialization (Lifecycle Management)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through a capability negotiation handshake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Client sends an initialize request to establish the connection and negotiate supported features.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Initialization (Lifecycle Management)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" y="628650"/>
            <a:ext cx="8229600" cy="609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0" y="238125"/>
            <a:ext cx="5172075" cy="66198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Protocol Version Negotiation: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protocolVersion field (e.g., “2025-06-18”) ensures both client and server are using compatible protocol versions.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Prevents communication errors that could occur when different versions attempt to interact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If a mutually compatible version is not negotiated, the connection should be terminated.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Capability Discovery: </a:t>
            </a:r>
            <a:endParaRPr lang="en-US" sz="3400" b="1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Allows each party to declare what features they support, including which primitives they can handle (tools, resources, prompts) and whether they support features like notifications.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Enables efficient communication by avoiding unsupported operations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Initialization Exchange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Identity Exchange: </a:t>
            </a:r>
            <a:endParaRPr lang="en-US" sz="3400" b="1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400">
                <a:solidFill>
                  <a:srgbClr val="002060"/>
                </a:solidFill>
              </a:rPr>
              <a:t>ClientInfo and serverInfo objects provide identification and versioning information for debugging and compatibility purposes.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Client Capabilities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sz="3400" b="1">
                <a:solidFill>
                  <a:srgbClr val="002060"/>
                </a:solidFill>
              </a:rPr>
              <a:t>"elicitation": {} - </a:t>
            </a:r>
            <a:r>
              <a:rPr lang="en-US" sz="3400">
                <a:solidFill>
                  <a:srgbClr val="002060"/>
                </a:solidFill>
              </a:rPr>
              <a:t>The client declares it can work with user interaction requests (can receive elicitation/create method calls)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44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Server Capabilities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"tools": {"listChanged": true} -</a:t>
            </a:r>
            <a:r>
              <a:rPr lang="en-US" sz="3400">
                <a:solidFill>
                  <a:srgbClr val="002060"/>
                </a:solidFill>
              </a:rPr>
              <a:t> Server supports the tools primitive AND can send tools/list_changed notifications when its tool list changes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"resources": {} -</a:t>
            </a:r>
            <a:r>
              <a:rPr lang="en-US" sz="3400">
                <a:solidFill>
                  <a:srgbClr val="002060"/>
                </a:solidFill>
              </a:rPr>
              <a:t> Server also supports the resources primitive (can handle resources/list and resources/read methods)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Successful Initialization Client Sends Notification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930" y="1748155"/>
            <a:ext cx="7410450" cy="2286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During initialization, the AI application’s MCP client manager establishes connections to configured servers and stores their capabilities for later use.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application uses this information to determine which servers can provide specific types of functionality (tools, resources, prompts) and whether they support real-time updates.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initialization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735" y="1354455"/>
            <a:ext cx="9842500" cy="39325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Tool Discovery (Primitives)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Now that the connection is established, the client can discover available tools by sending a tools/list request.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request is fundamental to MCP’s tool discovery mechanism — it allows clients to understand what tools are available on the server before attempting to use them.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90975" cy="262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65" y="0"/>
            <a:ext cx="10515600" cy="67056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-69215"/>
            <a:ext cx="8923655" cy="692721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tools/list request is simple, containing no parameters.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response contains a tools array that provides comprehensive metadata about each available tool.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array-based structure allows servers to expose multiple tools simultaneously while maintaining clear boundaries between different functionalities.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Each tool object in the response includes several key fields: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name: </a:t>
            </a:r>
            <a:r>
              <a:rPr lang="en-US" sz="3400">
                <a:solidFill>
                  <a:srgbClr val="002060"/>
                </a:solidFill>
              </a:rPr>
              <a:t>A unique identifier for the tool within the server’s namespace. Serves as the primary key for tool execution and should follow a clear naming pattern (e.g., calculator_arithmetic rather than just calculate)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title: </a:t>
            </a:r>
            <a:r>
              <a:rPr lang="en-US" sz="3400">
                <a:solidFill>
                  <a:srgbClr val="002060"/>
                </a:solidFill>
              </a:rPr>
              <a:t>A human-readable display name for the tool that clients can show to users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Discovery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description:</a:t>
            </a:r>
            <a:r>
              <a:rPr lang="en-US" sz="3400">
                <a:solidFill>
                  <a:srgbClr val="002060"/>
                </a:solidFill>
              </a:rPr>
              <a:t> Detailed explanation of what the tool does and when to use it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inputSchema: </a:t>
            </a:r>
            <a:r>
              <a:rPr lang="en-US" sz="3400">
                <a:solidFill>
                  <a:srgbClr val="002060"/>
                </a:solidFill>
              </a:rPr>
              <a:t>A JSON Schema that defines the expected input parameters, enabling type validation and providing clear documentation about required and optional parameters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AI application fetches available tools from all connected MCP servers and combines them into a unified tool registry that the language model can access.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allows the LLM to understand what actions it can perform and automatically generates the appropriate tool calls during conversations.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tool discovery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1118870"/>
            <a:ext cx="10039350" cy="409829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Tool Execution (Primitives)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client can now execute a tool using the tools/call method.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demonstrates how MCP primitives are used in practice: after discovering available tools, the client can invoke them with appropriate arguments.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Execution Request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The tools/call request follows a structured format that ensures type safety and clear communication between client and server.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Note that we’re using the proper tool name from the discovery response (weather_current) rather than a simplified name: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93980"/>
            <a:ext cx="4276725" cy="4905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805" y="0"/>
            <a:ext cx="6848475" cy="484822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Key Elements of Tool Execution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Request structure includes several important components: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name: </a:t>
            </a:r>
            <a:r>
              <a:rPr lang="en-US" sz="3400">
                <a:solidFill>
                  <a:srgbClr val="002060"/>
                </a:solidFill>
              </a:rPr>
              <a:t>Must match exactly tool name from discovery response (weather_current). Ensures server to identify tool to execute.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arguments:</a:t>
            </a:r>
            <a:r>
              <a:rPr lang="en-US" sz="3400">
                <a:solidFill>
                  <a:srgbClr val="002060"/>
                </a:solidFill>
              </a:rPr>
              <a:t> Contains input parameters as defined by tool’s inputSchema. In this example: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 location: “San Francisco” (required parameter)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units:</a:t>
            </a:r>
            <a:r>
              <a:rPr lang="en-US" sz="3400">
                <a:solidFill>
                  <a:srgbClr val="002060"/>
                </a:solidFill>
              </a:rPr>
              <a:t> “imperial” (optional, defaults to “metric” if not specified)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unique id for request-response correlation.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the Tool Execution Response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r>
              <a:rPr lang="en-US" sz="3400">
                <a:solidFill>
                  <a:srgbClr val="002060"/>
                </a:solidFill>
              </a:rPr>
              <a:t>Response demonstrates MCP’s flexible content system: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content Array: </a:t>
            </a:r>
            <a:r>
              <a:rPr lang="en-US" sz="3400">
                <a:solidFill>
                  <a:srgbClr val="002060"/>
                </a:solidFill>
              </a:rPr>
              <a:t>Tool responses return an array of content objects, (text, images, resources, etc.)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Content Types: </a:t>
            </a:r>
            <a:r>
              <a:rPr lang="en-US" sz="3400">
                <a:solidFill>
                  <a:srgbClr val="002060"/>
                </a:solidFill>
              </a:rPr>
              <a:t>Each content object has a type field. In this example, "type": "text" indicates plain text content, but MCP supports various content types for different use cases.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002060"/>
                </a:solidFill>
              </a:rPr>
              <a:t>Structured Output:</a:t>
            </a:r>
            <a:r>
              <a:rPr lang="en-US" sz="3400">
                <a:solidFill>
                  <a:srgbClr val="002060"/>
                </a:solidFill>
              </a:rPr>
              <a:t> Response provides actionable information that the AI application can use as context for language model interactions.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language model decides to use a tool during a conversation, the AI application intercepts the tool call, routes it to the appropriate MCP server, executes it, and returns the results back to the LLM as part of the conversation flow.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Enables LLM to access real-time data and perform actions in the external world.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tool execution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670" y="1118870"/>
            <a:ext cx="10169525" cy="30137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Understanding Tool List Change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server’s available tools change—such as when new functionality becomes available, existing tools are modified, or tools become temporarily unavailable—the server can proactively notify connected clients:</a:t>
            </a:r>
            <a:endParaRPr lang="en-US" sz="34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3961765"/>
            <a:ext cx="6315075" cy="22669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Key Features of MCP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No Response Required:</a:t>
            </a:r>
            <a:r>
              <a:rPr lang="en-US" sz="3400">
                <a:solidFill>
                  <a:srgbClr val="002060"/>
                </a:solidFill>
              </a:rPr>
              <a:t> Notice there’s no id field in the notification.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Capability-Based: </a:t>
            </a:r>
            <a:r>
              <a:rPr lang="en-US" sz="3400">
                <a:solidFill>
                  <a:srgbClr val="002060"/>
                </a:solidFill>
              </a:rPr>
              <a:t>Only sent by servers that declared "listChanged": true in their tools capability during initialization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>
                <a:solidFill>
                  <a:srgbClr val="002060"/>
                </a:solidFill>
              </a:rPr>
              <a:t>Event-Driven: </a:t>
            </a:r>
            <a:r>
              <a:rPr lang="en-US" sz="3400">
                <a:solidFill>
                  <a:srgbClr val="002060"/>
                </a:solidFill>
              </a:rPr>
              <a:t>Server decides when to send notifications based on internal state changes, making MCP connections dynamic and responsive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Client Response to Notifications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Upon receiving this notification, the client typically reacts by requesting the updated tool list. This creates a refresh cycle that keeps the client’s understanding of available tools current:</a:t>
            </a:r>
            <a:endParaRPr lang="en-US" sz="340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955" y="3499485"/>
            <a:ext cx="6315075" cy="22669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Why Notifications Matter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Dynamic Environments:</a:t>
            </a:r>
            <a:r>
              <a:rPr lang="en-US" sz="3400">
                <a:solidFill>
                  <a:srgbClr val="002060"/>
                </a:solidFill>
              </a:rPr>
              <a:t> Tools may come and go based on server state, external dependencies, or user permissions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Efficiency:</a:t>
            </a:r>
            <a:r>
              <a:rPr lang="en-US" sz="3400">
                <a:solidFill>
                  <a:srgbClr val="002060"/>
                </a:solidFill>
              </a:rPr>
              <a:t> Clients don’t need to poll for changes; they’re notified when updates occur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Consistency:</a:t>
            </a:r>
            <a:r>
              <a:rPr lang="en-US" sz="3400">
                <a:solidFill>
                  <a:srgbClr val="002060"/>
                </a:solidFill>
              </a:rPr>
              <a:t> Ensures clients always have accurate information about available server capabilities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</a:pPr>
            <a:r>
              <a:rPr lang="en-US" sz="3400" b="1">
                <a:solidFill>
                  <a:srgbClr val="002060"/>
                </a:solidFill>
              </a:rPr>
              <a:t>Real-time Collaboration:</a:t>
            </a:r>
            <a:r>
              <a:rPr lang="en-US" sz="3400">
                <a:solidFill>
                  <a:srgbClr val="002060"/>
                </a:solidFill>
              </a:rPr>
              <a:t> Enables responsive AI applications that can adapt to changing contexts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15" y="67945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How This Works in AI Applications</a:t>
            </a:r>
            <a:endParaRPr lang="en-US" sz="400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765175"/>
            <a:ext cx="12020550" cy="566928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When the AI application receives a notification about changed tools, it immediately refreshes its tool registry and updates the LLM’s available capabilities. </a:t>
            </a:r>
            <a:endParaRPr lang="en-US" sz="34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>
                <a:solidFill>
                  <a:srgbClr val="002060"/>
                </a:solidFill>
              </a:rPr>
              <a:t>This ensures that ongoing conversations always have access to the most current set of tools, and the LLM can dynamically adapt to new functionality as it becomes available.</a:t>
            </a:r>
            <a:endParaRPr lang="en-US" sz="340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645" y="176530"/>
            <a:ext cx="11661140" cy="942340"/>
          </a:xfrm>
        </p:spPr>
        <p:txBody>
          <a:bodyPr>
            <a:normAutofit/>
          </a:bodyPr>
          <a:p>
            <a:pPr algn="ctr"/>
            <a:r>
              <a:rPr lang="en-US" sz="4000">
                <a:solidFill>
                  <a:srgbClr val="C00000"/>
                </a:solidFill>
              </a:rPr>
              <a:t>Pseudo-code for AI application notification handling</a:t>
            </a:r>
            <a:endParaRPr lang="en-US" sz="400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30" y="1273175"/>
            <a:ext cx="9554210" cy="29997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12976</Words>
  <Application>WPS Presentation</Application>
  <PresentationFormat>宽屏</PresentationFormat>
  <Paragraphs>345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OpenSymbol</vt:lpstr>
      <vt:lpstr>SimSun</vt:lpstr>
      <vt:lpstr>Office Theme</vt:lpstr>
      <vt:lpstr>PowerPoint 演示文稿</vt:lpstr>
      <vt:lpstr>PowerPoint 演示文稿</vt:lpstr>
      <vt:lpstr>Model Context Protocol (MCP)</vt:lpstr>
      <vt:lpstr>Model Context Protocol (MCP)</vt:lpstr>
      <vt:lpstr>What can MCP do?</vt:lpstr>
      <vt:lpstr>Why MCP?</vt:lpstr>
      <vt:lpstr>Scope</vt:lpstr>
      <vt:lpstr>Key participants in MCP architecture</vt:lpstr>
      <vt:lpstr>Key participants in MCP architecture</vt:lpstr>
      <vt:lpstr>MCP Layers</vt:lpstr>
      <vt:lpstr>Data layer</vt:lpstr>
      <vt:lpstr>Data layer</vt:lpstr>
      <vt:lpstr>Transport layer - Abstracts Communication Details</vt:lpstr>
      <vt:lpstr>Data Layer Protocol</vt:lpstr>
      <vt:lpstr>Lifecycle management</vt:lpstr>
      <vt:lpstr>Primitives</vt:lpstr>
      <vt:lpstr>Primitives</vt:lpstr>
      <vt:lpstr>Primitives</vt:lpstr>
      <vt:lpstr>Notifications</vt:lpstr>
      <vt:lpstr>Example</vt:lpstr>
      <vt:lpstr>Initialization (Lifecycle Management)</vt:lpstr>
      <vt:lpstr>Initialization (Lifecycle Management)</vt:lpstr>
      <vt:lpstr>Understanding the Initialization Exchange</vt:lpstr>
      <vt:lpstr>Understanding the Initialization Exchange</vt:lpstr>
      <vt:lpstr>Understanding the Initialization Exchange</vt:lpstr>
      <vt:lpstr>Client Capabilities</vt:lpstr>
      <vt:lpstr>Initialization (Lifecycle Management)</vt:lpstr>
      <vt:lpstr>Server Capabilities</vt:lpstr>
      <vt:lpstr>Successful Initialization Client Sends Notification</vt:lpstr>
      <vt:lpstr>How This Works in AI Applications</vt:lpstr>
      <vt:lpstr>Pseudo-code for AI application initialization</vt:lpstr>
      <vt:lpstr>PowerPoint 演示文稿</vt:lpstr>
      <vt:lpstr>Tool Discovery (Primitives)</vt:lpstr>
      <vt:lpstr>Understanding the Tool Discovery Request</vt:lpstr>
      <vt:lpstr>Understanding the Tool Discovery Request</vt:lpstr>
      <vt:lpstr>Understanding the Tool Discovery Request</vt:lpstr>
      <vt:lpstr>Pseudo-code for AI application initialization</vt:lpstr>
      <vt:lpstr>How This Works in AI Applications</vt:lpstr>
      <vt:lpstr>Tool Execution (Primitives)</vt:lpstr>
      <vt:lpstr>Pseudo-code for AI application tool discovery</vt:lpstr>
      <vt:lpstr>Understanding the Tool Execution Request</vt:lpstr>
      <vt:lpstr>Key Elements of Tool Execution</vt:lpstr>
      <vt:lpstr>How This Works in AI Applications</vt:lpstr>
      <vt:lpstr>Pseudo-code for AI application tool discovery</vt:lpstr>
      <vt:lpstr>How This Works in AI Applications</vt:lpstr>
      <vt:lpstr>Understanding Tool List Change Notifications</vt:lpstr>
      <vt:lpstr>Key Features of MCP Notifications</vt:lpstr>
      <vt:lpstr>Key Features of MCP Notifications</vt:lpstr>
      <vt:lpstr>How This Works in AI Applications</vt:lpstr>
      <vt:lpstr>Pseudo-code for AI application tool execution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234</cp:revision>
  <dcterms:created xsi:type="dcterms:W3CDTF">2025-10-25T10:34:52Z</dcterms:created>
  <dcterms:modified xsi:type="dcterms:W3CDTF">2025-10-25T10:34:52Z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